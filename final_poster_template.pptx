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5" r:id="rId1"/>
  </p:sldMasterIdLst>
  <p:sldIdLst>
    <p:sldId id="256" r:id="rId2"/>
  </p:sldIdLst>
  <p:sldSz cx="30279975" cy="42808525"/>
  <p:notesSz cx="6858000" cy="9144000"/>
  <p:defaultTextStyle>
    <a:defPPr>
      <a:defRPr lang="ko-KR"/>
    </a:defPPr>
    <a:lvl1pPr marL="0" algn="l" defTabSz="4171448" rtl="0" eaLnBrk="1" latinLnBrk="1" hangingPunct="1">
      <a:defRPr sz="7400" kern="1200">
        <a:solidFill>
          <a:schemeClr val="tx1"/>
        </a:solidFill>
        <a:latin typeface="+mn-lt"/>
        <a:ea typeface="+mn-ea"/>
        <a:cs typeface="+mn-cs"/>
      </a:defRPr>
    </a:lvl1pPr>
    <a:lvl2pPr marL="2085720" algn="l" defTabSz="4171448" rtl="0" eaLnBrk="1" latinLnBrk="1" hangingPunct="1">
      <a:defRPr sz="7400" kern="1200">
        <a:solidFill>
          <a:schemeClr val="tx1"/>
        </a:solidFill>
        <a:latin typeface="+mn-lt"/>
        <a:ea typeface="+mn-ea"/>
        <a:cs typeface="+mn-cs"/>
      </a:defRPr>
    </a:lvl2pPr>
    <a:lvl3pPr marL="4171448" algn="l" defTabSz="4171448" rtl="0" eaLnBrk="1" latinLnBrk="1" hangingPunct="1">
      <a:defRPr sz="7400" kern="1200">
        <a:solidFill>
          <a:schemeClr val="tx1"/>
        </a:solidFill>
        <a:latin typeface="+mn-lt"/>
        <a:ea typeface="+mn-ea"/>
        <a:cs typeface="+mn-cs"/>
      </a:defRPr>
    </a:lvl3pPr>
    <a:lvl4pPr marL="6257168" algn="l" defTabSz="4171448" rtl="0" eaLnBrk="1" latinLnBrk="1" hangingPunct="1">
      <a:defRPr sz="7400" kern="1200">
        <a:solidFill>
          <a:schemeClr val="tx1"/>
        </a:solidFill>
        <a:latin typeface="+mn-lt"/>
        <a:ea typeface="+mn-ea"/>
        <a:cs typeface="+mn-cs"/>
      </a:defRPr>
    </a:lvl4pPr>
    <a:lvl5pPr marL="8342891" algn="l" defTabSz="4171448" rtl="0" eaLnBrk="1" latinLnBrk="1" hangingPunct="1">
      <a:defRPr sz="7400" kern="1200">
        <a:solidFill>
          <a:schemeClr val="tx1"/>
        </a:solidFill>
        <a:latin typeface="+mn-lt"/>
        <a:ea typeface="+mn-ea"/>
        <a:cs typeface="+mn-cs"/>
      </a:defRPr>
    </a:lvl5pPr>
    <a:lvl6pPr marL="10428624" algn="l" defTabSz="4171448" rtl="0" eaLnBrk="1" latinLnBrk="1" hangingPunct="1">
      <a:defRPr sz="7400" kern="1200">
        <a:solidFill>
          <a:schemeClr val="tx1"/>
        </a:solidFill>
        <a:latin typeface="+mn-lt"/>
        <a:ea typeface="+mn-ea"/>
        <a:cs typeface="+mn-cs"/>
      </a:defRPr>
    </a:lvl6pPr>
    <a:lvl7pPr marL="12514344" algn="l" defTabSz="4171448" rtl="0" eaLnBrk="1" latinLnBrk="1" hangingPunct="1">
      <a:defRPr sz="7400" kern="1200">
        <a:solidFill>
          <a:schemeClr val="tx1"/>
        </a:solidFill>
        <a:latin typeface="+mn-lt"/>
        <a:ea typeface="+mn-ea"/>
        <a:cs typeface="+mn-cs"/>
      </a:defRPr>
    </a:lvl7pPr>
    <a:lvl8pPr marL="14600059" algn="l" defTabSz="4171448" rtl="0" eaLnBrk="1" latinLnBrk="1" hangingPunct="1">
      <a:defRPr sz="7400" kern="1200">
        <a:solidFill>
          <a:schemeClr val="tx1"/>
        </a:solidFill>
        <a:latin typeface="+mn-lt"/>
        <a:ea typeface="+mn-ea"/>
        <a:cs typeface="+mn-cs"/>
      </a:defRPr>
    </a:lvl8pPr>
    <a:lvl9pPr marL="16685792" algn="l" defTabSz="4171448" rtl="0" eaLnBrk="1" latinLnBrk="1"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1">
          <p15:clr>
            <a:srgbClr val="A4A3A4"/>
          </p15:clr>
        </p15:guide>
        <p15:guide id="2" pos="94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3726C"/>
    <a:srgbClr val="945D5C"/>
    <a:srgbClr val="0F0F70"/>
    <a:srgbClr val="DCDAB2"/>
    <a:srgbClr val="C5A86F"/>
    <a:srgbClr val="888888"/>
    <a:srgbClr val="B5B6B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01A66EDD-3DAB-4C5B-A090-DC80EC1FD486}" styleName="Normal Style 1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lum val="90000"/>
            </a:schemeClr>
          </a:solidFill>
        </a:fill>
      </a:tcStyle>
    </a:wholeTbl>
    <a:band1H>
      <a:tcTxStyle/>
      <a:tcStyle>
        <a:tcBdr/>
        <a:fill>
          <a:solidFill>
            <a:schemeClr val="accent1">
              <a:lum val="80000"/>
            </a:schemeClr>
          </a:solidFill>
        </a:fill>
      </a:tcStyle>
    </a:band1H>
    <a:band2H>
      <a:tcTxStyle/>
      <a:tcStyle>
        <a:tcBdr/>
      </a:tcStyle>
    </a:band2H>
    <a:band1V>
      <a:tcTxStyle/>
      <a:tcStyle>
        <a:tcBdr/>
        <a:fill>
          <a:solidFill>
            <a:schemeClr val="accent1">
              <a:lum val="80000"/>
            </a:schemeClr>
          </a:solidFill>
        </a:fill>
      </a:tcStyle>
    </a:band1V>
    <a:band2V>
      <a:tcTxStyle/>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3"/>
  </p:normalViewPr>
  <p:slideViewPr>
    <p:cSldViewPr>
      <p:cViewPr>
        <p:scale>
          <a:sx n="23" d="100"/>
          <a:sy n="23" d="100"/>
        </p:scale>
        <p:origin x="1401" y="-1299"/>
      </p:cViewPr>
      <p:guideLst>
        <p:guide orient="horz" pos="13481"/>
        <p:guide pos="9492"/>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bg>
      <p:bgPr>
        <a:solidFill>
          <a:schemeClr val="bg1"/>
        </a:solidFill>
        <a:effectLst/>
      </p:bgPr>
    </p:bg>
    <p:spTree>
      <p:nvGrpSpPr>
        <p:cNvPr id="1" name=""/>
        <p:cNvGrpSpPr/>
        <p:nvPr/>
      </p:nvGrpSpPr>
      <p:grpSpPr>
        <a:xfrm>
          <a:off x="0" y="0"/>
          <a:ext cx="0" cy="0"/>
          <a:chOff x="0" y="0"/>
          <a:chExt cx="0" cy="0"/>
        </a:xfrm>
      </p:grpSpPr>
      <p:pic>
        <p:nvPicPr>
          <p:cNvPr id="11" name="그림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123309" y="41788404"/>
            <a:ext cx="10058400" cy="708161"/>
          </a:xfrm>
          <a:prstGeom prst="rect">
            <a:avLst/>
          </a:prstGeom>
        </p:spPr>
      </p:pic>
      <p:sp>
        <p:nvSpPr>
          <p:cNvPr id="2" name="직사각형 1"/>
          <p:cNvSpPr/>
          <p:nvPr userDrawn="1"/>
        </p:nvSpPr>
        <p:spPr>
          <a:xfrm>
            <a:off x="-25526" y="0"/>
            <a:ext cx="30279975" cy="5999085"/>
          </a:xfrm>
          <a:prstGeom prst="rect">
            <a:avLst/>
          </a:prstGeom>
          <a:solidFill>
            <a:srgbClr val="0F0F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7" name="직사각형 6"/>
          <p:cNvSpPr/>
          <p:nvPr userDrawn="1"/>
        </p:nvSpPr>
        <p:spPr>
          <a:xfrm>
            <a:off x="-27907" y="41566225"/>
            <a:ext cx="30279975" cy="1296421"/>
          </a:xfrm>
          <a:prstGeom prst="rect">
            <a:avLst/>
          </a:prstGeom>
          <a:solidFill>
            <a:srgbClr val="0F0F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4400" dirty="0">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서울대학교 학부대학</a:t>
            </a:r>
          </a:p>
        </p:txBody>
      </p:sp>
      <p:pic>
        <p:nvPicPr>
          <p:cNvPr id="12" name="그림 11">
            <a:extLst>
              <a:ext uri="{FF2B5EF4-FFF2-40B4-BE49-F238E27FC236}">
                <a16:creationId xmlns:a16="http://schemas.microsoft.com/office/drawing/2014/main" id="{D7B3C444-FCBC-4CF3-A62B-C79E3D1CB8BD}"/>
              </a:ext>
            </a:extLst>
          </p:cNvPr>
          <p:cNvPicPr>
            <a:picLocks noChangeAspect="1"/>
          </p:cNvPicPr>
          <p:nvPr userDrawn="1"/>
        </p:nvPicPr>
        <p:blipFill>
          <a:blip r:embed="rId3">
            <a:clrChange>
              <a:clrFrom>
                <a:srgbClr val="FFFFFF"/>
              </a:clrFrom>
              <a:clrTo>
                <a:srgbClr val="FFFFFF">
                  <a:alpha val="0"/>
                </a:srgbClr>
              </a:clrTo>
            </a:clrChange>
          </a:blip>
          <a:stretch>
            <a:fillRect/>
          </a:stretch>
        </p:blipFill>
        <p:spPr>
          <a:xfrm>
            <a:off x="27584297" y="3820959"/>
            <a:ext cx="2965402" cy="2178126"/>
          </a:xfrm>
          <a:prstGeom prst="rect">
            <a:avLst/>
          </a:prstGeom>
        </p:spPr>
      </p:pic>
    </p:spTree>
    <p:extLst>
      <p:ext uri="{BB962C8B-B14F-4D97-AF65-F5344CB8AC3E}">
        <p14:creationId xmlns:p14="http://schemas.microsoft.com/office/powerpoint/2010/main" val="2080736855"/>
      </p:ext>
    </p:extLst>
  </p:cSld>
  <p:clrMapOvr>
    <a:masterClrMapping/>
  </p:clrMapOvr>
  <p:extLst>
    <p:ext uri="{DCECCB84-F9BA-43D5-87BE-67443E8EF086}">
      <p15:sldGuideLst xmlns:p15="http://schemas.microsoft.com/office/powerpoint/2012/main">
        <p15:guide id="1" orient="horz" pos="13483" userDrawn="1">
          <p15:clr>
            <a:srgbClr val="FBAE40"/>
          </p15:clr>
        </p15:guide>
        <p15:guide id="2" pos="95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1514012" y="1714342"/>
            <a:ext cx="27251978" cy="7134754"/>
          </a:xfrm>
          <a:prstGeom prst="rect">
            <a:avLst/>
          </a:prstGeom>
        </p:spPr>
        <p:txBody>
          <a:bodyPr lIns="365949" tIns="182968" rIns="365949" bIns="182968"/>
          <a:lstStyle/>
          <a:p>
            <a:r>
              <a:rPr lang="ko-KR" altLang="en-US"/>
              <a:t>마스터 제목 스타일 편집</a:t>
            </a:r>
          </a:p>
        </p:txBody>
      </p:sp>
      <p:sp>
        <p:nvSpPr>
          <p:cNvPr id="3" name="내용 개체 틀 2"/>
          <p:cNvSpPr>
            <a:spLocks noGrp="1"/>
          </p:cNvSpPr>
          <p:nvPr>
            <p:ph idx="1"/>
          </p:nvPr>
        </p:nvSpPr>
        <p:spPr>
          <a:xfrm>
            <a:off x="1514012" y="9988658"/>
            <a:ext cx="27251978" cy="28251652"/>
          </a:xfrm>
          <a:prstGeom prst="rect">
            <a:avLst/>
          </a:prstGeom>
        </p:spPr>
        <p:txBody>
          <a:bodyPr lIns="365949" tIns="182968" rIns="365949" bIns="182968"/>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a:xfrm>
            <a:off x="1514012" y="39677178"/>
            <a:ext cx="7065328" cy="2279159"/>
          </a:xfrm>
          <a:prstGeom prst="rect">
            <a:avLst/>
          </a:prstGeom>
        </p:spPr>
        <p:txBody>
          <a:bodyPr lIns="365949" tIns="182968" rIns="365949" bIns="182968"/>
          <a:lstStyle/>
          <a:p>
            <a:fld id="{B97A18B4-7299-4267-86DD-AEA5FF0EDE62}" type="datetimeFigureOut">
              <a:rPr lang="ko-KR" altLang="en-US" smtClean="0"/>
              <a:t>2026-06-08</a:t>
            </a:fld>
            <a:endParaRPr lang="ko-KR" altLang="en-US"/>
          </a:p>
        </p:txBody>
      </p:sp>
      <p:sp>
        <p:nvSpPr>
          <p:cNvPr id="5" name="바닥글 개체 틀 4"/>
          <p:cNvSpPr>
            <a:spLocks noGrp="1"/>
          </p:cNvSpPr>
          <p:nvPr>
            <p:ph type="ftr" sz="quarter" idx="11"/>
          </p:nvPr>
        </p:nvSpPr>
        <p:spPr>
          <a:xfrm>
            <a:off x="10345667" y="39677178"/>
            <a:ext cx="9588659" cy="2279159"/>
          </a:xfrm>
          <a:prstGeom prst="rect">
            <a:avLst/>
          </a:prstGeom>
        </p:spPr>
        <p:txBody>
          <a:bodyPr lIns="365949" tIns="182968" rIns="365949" bIns="182968"/>
          <a:lstStyle/>
          <a:p>
            <a:endParaRPr lang="ko-KR" altLang="en-US"/>
          </a:p>
        </p:txBody>
      </p:sp>
      <p:sp>
        <p:nvSpPr>
          <p:cNvPr id="6" name="슬라이드 번호 개체 틀 5"/>
          <p:cNvSpPr>
            <a:spLocks noGrp="1"/>
          </p:cNvSpPr>
          <p:nvPr>
            <p:ph type="sldNum" sz="quarter" idx="12"/>
          </p:nvPr>
        </p:nvSpPr>
        <p:spPr>
          <a:xfrm>
            <a:off x="21700657" y="39677178"/>
            <a:ext cx="7065328" cy="2279159"/>
          </a:xfrm>
          <a:prstGeom prst="rect">
            <a:avLst/>
          </a:prstGeom>
        </p:spPr>
        <p:txBody>
          <a:bodyPr lIns="365949" tIns="182968" rIns="365949" bIns="182968"/>
          <a:lstStyle/>
          <a:p>
            <a:fld id="{61FD3256-0DFA-4CBE-8B7A-380D525D5D5E}" type="slidenum">
              <a:rPr lang="ko-KR" altLang="en-US" smtClean="0"/>
              <a:t>‹#›</a:t>
            </a:fld>
            <a:endParaRPr lang="ko-KR" altLang="en-US"/>
          </a:p>
        </p:txBody>
      </p:sp>
    </p:spTree>
    <p:extLst>
      <p:ext uri="{BB962C8B-B14F-4D97-AF65-F5344CB8AC3E}">
        <p14:creationId xmlns:p14="http://schemas.microsoft.com/office/powerpoint/2010/main" val="2371390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a:xfrm>
            <a:off x="1514012" y="1714342"/>
            <a:ext cx="27251978" cy="7134754"/>
          </a:xfrm>
          <a:prstGeom prst="rect">
            <a:avLst/>
          </a:prstGeom>
        </p:spPr>
        <p:txBody>
          <a:bodyPr lIns="365949" tIns="182968" rIns="365949" bIns="182968"/>
          <a:lstStyle/>
          <a:p>
            <a:r>
              <a:rPr lang="ko-KR" altLang="en-US"/>
              <a:t>마스터 제목 스타일 편집</a:t>
            </a:r>
          </a:p>
        </p:txBody>
      </p:sp>
      <p:sp>
        <p:nvSpPr>
          <p:cNvPr id="3" name="날짜 개체 틀 2"/>
          <p:cNvSpPr>
            <a:spLocks noGrp="1"/>
          </p:cNvSpPr>
          <p:nvPr>
            <p:ph type="dt" sz="half" idx="10"/>
          </p:nvPr>
        </p:nvSpPr>
        <p:spPr>
          <a:xfrm>
            <a:off x="1514012" y="39677178"/>
            <a:ext cx="7065328" cy="2279159"/>
          </a:xfrm>
          <a:prstGeom prst="rect">
            <a:avLst/>
          </a:prstGeom>
        </p:spPr>
        <p:txBody>
          <a:bodyPr lIns="365949" tIns="182968" rIns="365949" bIns="182968"/>
          <a:lstStyle/>
          <a:p>
            <a:fld id="{B97A18B4-7299-4267-86DD-AEA5FF0EDE62}" type="datetimeFigureOut">
              <a:rPr lang="ko-KR" altLang="en-US" smtClean="0"/>
              <a:t>2026-06-08</a:t>
            </a:fld>
            <a:endParaRPr lang="ko-KR" altLang="en-US"/>
          </a:p>
        </p:txBody>
      </p:sp>
      <p:sp>
        <p:nvSpPr>
          <p:cNvPr id="4" name="바닥글 개체 틀 3"/>
          <p:cNvSpPr>
            <a:spLocks noGrp="1"/>
          </p:cNvSpPr>
          <p:nvPr>
            <p:ph type="ftr" sz="quarter" idx="11"/>
          </p:nvPr>
        </p:nvSpPr>
        <p:spPr>
          <a:xfrm>
            <a:off x="10345667" y="39677178"/>
            <a:ext cx="9588659" cy="2279159"/>
          </a:xfrm>
          <a:prstGeom prst="rect">
            <a:avLst/>
          </a:prstGeom>
        </p:spPr>
        <p:txBody>
          <a:bodyPr lIns="365949" tIns="182968" rIns="365949" bIns="182968"/>
          <a:lstStyle/>
          <a:p>
            <a:endParaRPr lang="ko-KR" altLang="en-US"/>
          </a:p>
        </p:txBody>
      </p:sp>
      <p:sp>
        <p:nvSpPr>
          <p:cNvPr id="5" name="슬라이드 번호 개체 틀 4"/>
          <p:cNvSpPr>
            <a:spLocks noGrp="1"/>
          </p:cNvSpPr>
          <p:nvPr>
            <p:ph type="sldNum" sz="quarter" idx="12"/>
          </p:nvPr>
        </p:nvSpPr>
        <p:spPr>
          <a:xfrm>
            <a:off x="21700657" y="39677178"/>
            <a:ext cx="7065328" cy="2279159"/>
          </a:xfrm>
          <a:prstGeom prst="rect">
            <a:avLst/>
          </a:prstGeom>
        </p:spPr>
        <p:txBody>
          <a:bodyPr lIns="365949" tIns="182968" rIns="365949" bIns="182968"/>
          <a:lstStyle/>
          <a:p>
            <a:fld id="{61FD3256-0DFA-4CBE-8B7A-380D525D5D5E}" type="slidenum">
              <a:rPr lang="ko-KR" altLang="en-US" smtClean="0"/>
              <a:t>‹#›</a:t>
            </a:fld>
            <a:endParaRPr lang="ko-KR" altLang="en-US"/>
          </a:p>
        </p:txBody>
      </p:sp>
    </p:spTree>
    <p:extLst>
      <p:ext uri="{BB962C8B-B14F-4D97-AF65-F5344CB8AC3E}">
        <p14:creationId xmlns:p14="http://schemas.microsoft.com/office/powerpoint/2010/main" val="2246936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a:xfrm>
            <a:off x="1514012" y="39677178"/>
            <a:ext cx="7065328" cy="2279159"/>
          </a:xfrm>
          <a:prstGeom prst="rect">
            <a:avLst/>
          </a:prstGeom>
        </p:spPr>
        <p:txBody>
          <a:bodyPr lIns="365949" tIns="182968" rIns="365949" bIns="182968"/>
          <a:lstStyle/>
          <a:p>
            <a:fld id="{B97A18B4-7299-4267-86DD-AEA5FF0EDE62}" type="datetimeFigureOut">
              <a:rPr lang="ko-KR" altLang="en-US" smtClean="0"/>
              <a:t>2026-06-08</a:t>
            </a:fld>
            <a:endParaRPr lang="ko-KR" altLang="en-US"/>
          </a:p>
        </p:txBody>
      </p:sp>
      <p:sp>
        <p:nvSpPr>
          <p:cNvPr id="3" name="바닥글 개체 틀 2"/>
          <p:cNvSpPr>
            <a:spLocks noGrp="1"/>
          </p:cNvSpPr>
          <p:nvPr>
            <p:ph type="ftr" sz="quarter" idx="11"/>
          </p:nvPr>
        </p:nvSpPr>
        <p:spPr>
          <a:xfrm>
            <a:off x="10345667" y="39677178"/>
            <a:ext cx="9588659" cy="2279159"/>
          </a:xfrm>
          <a:prstGeom prst="rect">
            <a:avLst/>
          </a:prstGeom>
        </p:spPr>
        <p:txBody>
          <a:bodyPr lIns="365949" tIns="182968" rIns="365949" bIns="182968"/>
          <a:lstStyle/>
          <a:p>
            <a:endParaRPr lang="ko-KR" altLang="en-US"/>
          </a:p>
        </p:txBody>
      </p:sp>
      <p:sp>
        <p:nvSpPr>
          <p:cNvPr id="4" name="슬라이드 번호 개체 틀 3"/>
          <p:cNvSpPr>
            <a:spLocks noGrp="1"/>
          </p:cNvSpPr>
          <p:nvPr>
            <p:ph type="sldNum" sz="quarter" idx="12"/>
          </p:nvPr>
        </p:nvSpPr>
        <p:spPr>
          <a:xfrm>
            <a:off x="21700657" y="39677178"/>
            <a:ext cx="7065328" cy="2279159"/>
          </a:xfrm>
          <a:prstGeom prst="rect">
            <a:avLst/>
          </a:prstGeom>
        </p:spPr>
        <p:txBody>
          <a:bodyPr lIns="365949" tIns="182968" rIns="365949" bIns="182968"/>
          <a:lstStyle/>
          <a:p>
            <a:fld id="{61FD3256-0DFA-4CBE-8B7A-380D525D5D5E}" type="slidenum">
              <a:rPr lang="ko-KR" altLang="en-US" smtClean="0"/>
              <a:t>‹#›</a:t>
            </a:fld>
            <a:endParaRPr lang="ko-KR" altLang="en-US"/>
          </a:p>
        </p:txBody>
      </p:sp>
    </p:spTree>
    <p:extLst>
      <p:ext uri="{BB962C8B-B14F-4D97-AF65-F5344CB8AC3E}">
        <p14:creationId xmlns:p14="http://schemas.microsoft.com/office/powerpoint/2010/main" val="75228321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73363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 id="2147483655" r:id="rId4"/>
  </p:sldLayoutIdLst>
  <p:txStyles>
    <p:titleStyle>
      <a:lvl1pPr algn="ctr" defTabSz="4171448" rtl="0" eaLnBrk="1" latinLnBrk="1" hangingPunct="1">
        <a:spcBef>
          <a:spcPct val="0"/>
        </a:spcBef>
        <a:buNone/>
        <a:defRPr sz="19600" kern="1200">
          <a:solidFill>
            <a:schemeClr val="tx1"/>
          </a:solidFill>
          <a:latin typeface="+mj-lt"/>
          <a:ea typeface="+mj-ea"/>
          <a:cs typeface="+mj-cs"/>
        </a:defRPr>
      </a:lvl1pPr>
    </p:titleStyle>
    <p:bodyStyle>
      <a:lvl1pPr marL="1564292" indent="-1564292" algn="l" defTabSz="4171448" rtl="0" eaLnBrk="1" latinLnBrk="1" hangingPunct="1">
        <a:spcBef>
          <a:spcPct val="20000"/>
        </a:spcBef>
        <a:buFont typeface="Arial" pitchFamily="34" charset="0"/>
        <a:buChar char="•"/>
        <a:defRPr sz="14400" kern="1200">
          <a:solidFill>
            <a:schemeClr val="tx1"/>
          </a:solidFill>
          <a:latin typeface="+mn-lt"/>
          <a:ea typeface="+mn-ea"/>
          <a:cs typeface="+mn-cs"/>
        </a:defRPr>
      </a:lvl1pPr>
      <a:lvl2pPr marL="3389295" indent="-1303576" algn="l" defTabSz="4171448" rtl="0" eaLnBrk="1" latinLnBrk="1" hangingPunct="1">
        <a:spcBef>
          <a:spcPct val="20000"/>
        </a:spcBef>
        <a:buFont typeface="Arial" pitchFamily="34" charset="0"/>
        <a:buChar char="–"/>
        <a:defRPr sz="12600" kern="1200">
          <a:solidFill>
            <a:schemeClr val="tx1"/>
          </a:solidFill>
          <a:latin typeface="+mn-lt"/>
          <a:ea typeface="+mn-ea"/>
          <a:cs typeface="+mn-cs"/>
        </a:defRPr>
      </a:lvl2pPr>
      <a:lvl3pPr marL="5214312" indent="-1042864" algn="l" defTabSz="4171448" rtl="0" eaLnBrk="1" latinLnBrk="1" hangingPunct="1">
        <a:spcBef>
          <a:spcPct val="20000"/>
        </a:spcBef>
        <a:buFont typeface="Arial" pitchFamily="34" charset="0"/>
        <a:buChar char="•"/>
        <a:defRPr sz="10900" kern="1200">
          <a:solidFill>
            <a:schemeClr val="tx1"/>
          </a:solidFill>
          <a:latin typeface="+mn-lt"/>
          <a:ea typeface="+mn-ea"/>
          <a:cs typeface="+mn-cs"/>
        </a:defRPr>
      </a:lvl3pPr>
      <a:lvl4pPr marL="7300040" indent="-1042864" algn="l" defTabSz="4171448" rtl="0" eaLnBrk="1" latinLnBrk="1" hangingPunct="1">
        <a:spcBef>
          <a:spcPct val="20000"/>
        </a:spcBef>
        <a:buFont typeface="Arial" pitchFamily="34" charset="0"/>
        <a:buChar char="–"/>
        <a:defRPr sz="9200" kern="1200">
          <a:solidFill>
            <a:schemeClr val="tx1"/>
          </a:solidFill>
          <a:latin typeface="+mn-lt"/>
          <a:ea typeface="+mn-ea"/>
          <a:cs typeface="+mn-cs"/>
        </a:defRPr>
      </a:lvl4pPr>
      <a:lvl5pPr marL="9385760" indent="-1042864" algn="l" defTabSz="4171448" rtl="0" eaLnBrk="1" latinLnBrk="1" hangingPunct="1">
        <a:spcBef>
          <a:spcPct val="20000"/>
        </a:spcBef>
        <a:buFont typeface="Arial" pitchFamily="34" charset="0"/>
        <a:buChar char="»"/>
        <a:defRPr sz="9200" kern="1200">
          <a:solidFill>
            <a:schemeClr val="tx1"/>
          </a:solidFill>
          <a:latin typeface="+mn-lt"/>
          <a:ea typeface="+mn-ea"/>
          <a:cs typeface="+mn-cs"/>
        </a:defRPr>
      </a:lvl5pPr>
      <a:lvl6pPr marL="11471480" indent="-1042864" algn="l" defTabSz="4171448" rtl="0" eaLnBrk="1" latinLnBrk="1" hangingPunct="1">
        <a:spcBef>
          <a:spcPct val="20000"/>
        </a:spcBef>
        <a:buFont typeface="Arial" pitchFamily="34" charset="0"/>
        <a:buChar char="•"/>
        <a:defRPr sz="9200" kern="1200">
          <a:solidFill>
            <a:schemeClr val="tx1"/>
          </a:solidFill>
          <a:latin typeface="+mn-lt"/>
          <a:ea typeface="+mn-ea"/>
          <a:cs typeface="+mn-cs"/>
        </a:defRPr>
      </a:lvl6pPr>
      <a:lvl7pPr marL="13557204" indent="-1042864" algn="l" defTabSz="4171448" rtl="0" eaLnBrk="1" latinLnBrk="1" hangingPunct="1">
        <a:spcBef>
          <a:spcPct val="20000"/>
        </a:spcBef>
        <a:buFont typeface="Arial" pitchFamily="34" charset="0"/>
        <a:buChar char="•"/>
        <a:defRPr sz="9200" kern="1200">
          <a:solidFill>
            <a:schemeClr val="tx1"/>
          </a:solidFill>
          <a:latin typeface="+mn-lt"/>
          <a:ea typeface="+mn-ea"/>
          <a:cs typeface="+mn-cs"/>
        </a:defRPr>
      </a:lvl7pPr>
      <a:lvl8pPr marL="15642928" indent="-1042864" algn="l" defTabSz="4171448" rtl="0" eaLnBrk="1" latinLnBrk="1" hangingPunct="1">
        <a:spcBef>
          <a:spcPct val="20000"/>
        </a:spcBef>
        <a:buFont typeface="Arial" pitchFamily="34" charset="0"/>
        <a:buChar char="•"/>
        <a:defRPr sz="9200" kern="1200">
          <a:solidFill>
            <a:schemeClr val="tx1"/>
          </a:solidFill>
          <a:latin typeface="+mn-lt"/>
          <a:ea typeface="+mn-ea"/>
          <a:cs typeface="+mn-cs"/>
        </a:defRPr>
      </a:lvl8pPr>
      <a:lvl9pPr marL="17728656" indent="-1042864" algn="l" defTabSz="4171448" rtl="0" eaLnBrk="1" latinLnBrk="1" hangingPunct="1">
        <a:spcBef>
          <a:spcPct val="20000"/>
        </a:spcBef>
        <a:buFont typeface="Arial" pitchFamily="34" charset="0"/>
        <a:buChar char="•"/>
        <a:defRPr sz="9200" kern="1200">
          <a:solidFill>
            <a:schemeClr val="tx1"/>
          </a:solidFill>
          <a:latin typeface="+mn-lt"/>
          <a:ea typeface="+mn-ea"/>
          <a:cs typeface="+mn-cs"/>
        </a:defRPr>
      </a:lvl9pPr>
    </p:bodyStyle>
    <p:otherStyle>
      <a:defPPr>
        <a:defRPr lang="ko-KR"/>
      </a:defPPr>
      <a:lvl1pPr marL="0" algn="l" defTabSz="4171448" rtl="0" eaLnBrk="1" latinLnBrk="1" hangingPunct="1">
        <a:defRPr sz="7400" kern="1200">
          <a:solidFill>
            <a:schemeClr val="tx1"/>
          </a:solidFill>
          <a:latin typeface="+mn-lt"/>
          <a:ea typeface="+mn-ea"/>
          <a:cs typeface="+mn-cs"/>
        </a:defRPr>
      </a:lvl1pPr>
      <a:lvl2pPr marL="2085720" algn="l" defTabSz="4171448" rtl="0" eaLnBrk="1" latinLnBrk="1" hangingPunct="1">
        <a:defRPr sz="7400" kern="1200">
          <a:solidFill>
            <a:schemeClr val="tx1"/>
          </a:solidFill>
          <a:latin typeface="+mn-lt"/>
          <a:ea typeface="+mn-ea"/>
          <a:cs typeface="+mn-cs"/>
        </a:defRPr>
      </a:lvl2pPr>
      <a:lvl3pPr marL="4171448" algn="l" defTabSz="4171448" rtl="0" eaLnBrk="1" latinLnBrk="1" hangingPunct="1">
        <a:defRPr sz="7400" kern="1200">
          <a:solidFill>
            <a:schemeClr val="tx1"/>
          </a:solidFill>
          <a:latin typeface="+mn-lt"/>
          <a:ea typeface="+mn-ea"/>
          <a:cs typeface="+mn-cs"/>
        </a:defRPr>
      </a:lvl3pPr>
      <a:lvl4pPr marL="6257168" algn="l" defTabSz="4171448" rtl="0" eaLnBrk="1" latinLnBrk="1" hangingPunct="1">
        <a:defRPr sz="7400" kern="1200">
          <a:solidFill>
            <a:schemeClr val="tx1"/>
          </a:solidFill>
          <a:latin typeface="+mn-lt"/>
          <a:ea typeface="+mn-ea"/>
          <a:cs typeface="+mn-cs"/>
        </a:defRPr>
      </a:lvl4pPr>
      <a:lvl5pPr marL="8342891" algn="l" defTabSz="4171448" rtl="0" eaLnBrk="1" latinLnBrk="1" hangingPunct="1">
        <a:defRPr sz="7400" kern="1200">
          <a:solidFill>
            <a:schemeClr val="tx1"/>
          </a:solidFill>
          <a:latin typeface="+mn-lt"/>
          <a:ea typeface="+mn-ea"/>
          <a:cs typeface="+mn-cs"/>
        </a:defRPr>
      </a:lvl5pPr>
      <a:lvl6pPr marL="10428624" algn="l" defTabSz="4171448" rtl="0" eaLnBrk="1" latinLnBrk="1" hangingPunct="1">
        <a:defRPr sz="7400" kern="1200">
          <a:solidFill>
            <a:schemeClr val="tx1"/>
          </a:solidFill>
          <a:latin typeface="+mn-lt"/>
          <a:ea typeface="+mn-ea"/>
          <a:cs typeface="+mn-cs"/>
        </a:defRPr>
      </a:lvl6pPr>
      <a:lvl7pPr marL="12514344" algn="l" defTabSz="4171448" rtl="0" eaLnBrk="1" latinLnBrk="1" hangingPunct="1">
        <a:defRPr sz="7400" kern="1200">
          <a:solidFill>
            <a:schemeClr val="tx1"/>
          </a:solidFill>
          <a:latin typeface="+mn-lt"/>
          <a:ea typeface="+mn-ea"/>
          <a:cs typeface="+mn-cs"/>
        </a:defRPr>
      </a:lvl7pPr>
      <a:lvl8pPr marL="14600059" algn="l" defTabSz="4171448" rtl="0" eaLnBrk="1" latinLnBrk="1" hangingPunct="1">
        <a:defRPr sz="7400" kern="1200">
          <a:solidFill>
            <a:schemeClr val="tx1"/>
          </a:solidFill>
          <a:latin typeface="+mn-lt"/>
          <a:ea typeface="+mn-ea"/>
          <a:cs typeface="+mn-cs"/>
        </a:defRPr>
      </a:lvl8pPr>
      <a:lvl9pPr marL="16685792" algn="l" defTabSz="4171448" rtl="0" eaLnBrk="1" latinLnBrk="1" hangingPunct="1">
        <a:defRPr sz="7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p:cNvSpPr txBox="1"/>
          <p:nvPr/>
        </p:nvSpPr>
        <p:spPr>
          <a:xfrm>
            <a:off x="594372" y="665958"/>
            <a:ext cx="21386382" cy="2616103"/>
          </a:xfrm>
          <a:prstGeom prst="rect">
            <a:avLst/>
          </a:prstGeom>
          <a:noFill/>
        </p:spPr>
        <p:txBody>
          <a:bodyPr wrap="square" lIns="365757" tIns="182881" rIns="365757" bIns="182881">
            <a:spAutoFit/>
          </a:bodyPr>
          <a:lstStyle/>
          <a:p>
            <a:pPr lvl="0">
              <a:defRPr/>
            </a:pPr>
            <a:r>
              <a:rPr lang="en-US" altLang="ko-KR" sz="8000" dirty="0">
                <a:solidFill>
                  <a:srgbClr val="FFC60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Analysis of Factors Affecting Video Views</a:t>
            </a:r>
          </a:p>
          <a:p>
            <a:pPr lvl="0">
              <a:defRPr/>
            </a:pPr>
            <a:r>
              <a:rPr lang="en-US" altLang="ko-KR" sz="6600" dirty="0">
                <a:solidFill>
                  <a:srgbClr val="FFC60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&lt;A Comparative Study of MrBeast and </a:t>
            </a:r>
            <a:r>
              <a:rPr lang="en-US" altLang="ko-KR" sz="6600" dirty="0" err="1">
                <a:solidFill>
                  <a:srgbClr val="FFC60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Khaby</a:t>
            </a:r>
            <a:r>
              <a:rPr lang="en-US" altLang="ko-KR" sz="6600" dirty="0">
                <a:solidFill>
                  <a:srgbClr val="FFC60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 Lame&gt;</a:t>
            </a:r>
            <a:endParaRPr lang="en-US" altLang="ko-KR" sz="4800" dirty="0">
              <a:solidFill>
                <a:srgbClr val="FFC60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22" name="TextBox 21"/>
          <p:cNvSpPr txBox="1"/>
          <p:nvPr/>
        </p:nvSpPr>
        <p:spPr>
          <a:xfrm>
            <a:off x="3935494" y="3652228"/>
            <a:ext cx="2949525" cy="461665"/>
          </a:xfrm>
          <a:prstGeom prst="rect">
            <a:avLst/>
          </a:prstGeom>
          <a:noFill/>
        </p:spPr>
        <p:txBody>
          <a:bodyPr wrap="none" lIns="0" tIns="0" rIns="0" bIns="0">
            <a:spAutoFit/>
          </a:bodyPr>
          <a:lstStyle/>
          <a:p>
            <a:pPr lvl="0">
              <a:defRPr/>
            </a:pPr>
            <a:r>
              <a:rPr lang="en-US" altLang="ko-KR" sz="3000" dirty="0">
                <a:solidFill>
                  <a:schemeClr val="bg1"/>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Basic Computing</a:t>
            </a:r>
            <a:endParaRPr lang="ko-KR" altLang="en-US" sz="3000" dirty="0">
              <a:solidFill>
                <a:schemeClr val="bg1"/>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23" name="모서리가 둥근 직사각형 22"/>
          <p:cNvSpPr/>
          <p:nvPr/>
        </p:nvSpPr>
        <p:spPr>
          <a:xfrm>
            <a:off x="1664783" y="3537829"/>
            <a:ext cx="1980000" cy="690429"/>
          </a:xfrm>
          <a:prstGeom prst="roundRect">
            <a:avLst>
              <a:gd name="adj" fmla="val 5630"/>
            </a:avLst>
          </a:prstGeom>
          <a:solidFill>
            <a:srgbClr val="E0E0E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anchor="ctr"/>
          <a:lstStyle/>
          <a:p>
            <a:pPr algn="ctr">
              <a:defRPr/>
            </a:pPr>
            <a:r>
              <a:rPr lang="en-US" altLang="ko-KR" sz="3000" dirty="0">
                <a:solidFill>
                  <a:srgbClr val="0F0F7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Subject</a:t>
            </a:r>
            <a:endParaRPr lang="ko-KR" altLang="en-US" sz="3000" dirty="0">
              <a:solidFill>
                <a:srgbClr val="0F0F7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24" name="TextBox 23"/>
          <p:cNvSpPr txBox="1"/>
          <p:nvPr/>
        </p:nvSpPr>
        <p:spPr>
          <a:xfrm>
            <a:off x="3935494" y="4524773"/>
            <a:ext cx="2756588" cy="461665"/>
          </a:xfrm>
          <a:prstGeom prst="rect">
            <a:avLst/>
          </a:prstGeom>
          <a:noFill/>
        </p:spPr>
        <p:txBody>
          <a:bodyPr wrap="none" lIns="0" tIns="0" rIns="0" bIns="0">
            <a:spAutoFit/>
          </a:bodyPr>
          <a:lstStyle/>
          <a:p>
            <a:pPr lvl="0">
              <a:defRPr/>
            </a:pPr>
            <a:r>
              <a:rPr lang="en-US" altLang="ko-KR" sz="3000" dirty="0">
                <a:solidFill>
                  <a:schemeClr val="bg1"/>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Akihiko Yamada</a:t>
            </a:r>
            <a:endParaRPr lang="ko-KR" altLang="en-US" sz="3000" dirty="0">
              <a:solidFill>
                <a:schemeClr val="bg1"/>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25" name="모서리가 둥근 직사각형 24"/>
          <p:cNvSpPr/>
          <p:nvPr/>
        </p:nvSpPr>
        <p:spPr>
          <a:xfrm>
            <a:off x="1664783" y="4410374"/>
            <a:ext cx="1980000" cy="690429"/>
          </a:xfrm>
          <a:prstGeom prst="roundRect">
            <a:avLst>
              <a:gd name="adj" fmla="val 5630"/>
            </a:avLst>
          </a:prstGeom>
          <a:solidFill>
            <a:srgbClr val="E0E0E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anchor="ctr"/>
          <a:lstStyle/>
          <a:p>
            <a:pPr algn="ctr">
              <a:defRPr/>
            </a:pPr>
            <a:r>
              <a:rPr lang="en-US" altLang="ko-KR" sz="3000" dirty="0">
                <a:solidFill>
                  <a:srgbClr val="0F0F7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Professor</a:t>
            </a:r>
            <a:endParaRPr lang="ko-KR" altLang="en-US" sz="3000" dirty="0">
              <a:solidFill>
                <a:srgbClr val="0F0F7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26" name="TextBox 25"/>
          <p:cNvSpPr txBox="1"/>
          <p:nvPr/>
        </p:nvSpPr>
        <p:spPr>
          <a:xfrm>
            <a:off x="11434034" y="3652228"/>
            <a:ext cx="4448334" cy="461665"/>
          </a:xfrm>
          <a:prstGeom prst="rect">
            <a:avLst/>
          </a:prstGeom>
          <a:noFill/>
        </p:spPr>
        <p:txBody>
          <a:bodyPr wrap="none" lIns="0" tIns="0" rIns="0" bIns="0">
            <a:spAutoFit/>
          </a:bodyPr>
          <a:lstStyle/>
          <a:p>
            <a:pPr lvl="0">
              <a:defRPr/>
            </a:pPr>
            <a:r>
              <a:rPr lang="en-US" altLang="ko-KR" sz="3000" dirty="0">
                <a:solidFill>
                  <a:schemeClr val="bg1"/>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College of Liberal Studies</a:t>
            </a:r>
            <a:endParaRPr lang="ko-KR" altLang="en-US" sz="3000" dirty="0">
              <a:solidFill>
                <a:schemeClr val="bg1"/>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27" name="모서리가 둥근 직사각형 26"/>
          <p:cNvSpPr/>
          <p:nvPr/>
        </p:nvSpPr>
        <p:spPr>
          <a:xfrm>
            <a:off x="8947299" y="3546278"/>
            <a:ext cx="2196024" cy="690429"/>
          </a:xfrm>
          <a:prstGeom prst="roundRect">
            <a:avLst>
              <a:gd name="adj" fmla="val 5630"/>
            </a:avLst>
          </a:prstGeom>
          <a:solidFill>
            <a:srgbClr val="E0E0E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anchor="ctr"/>
          <a:lstStyle/>
          <a:p>
            <a:pPr algn="ctr">
              <a:defRPr/>
            </a:pPr>
            <a:r>
              <a:rPr lang="en-US" altLang="ko-KR" sz="3000" dirty="0">
                <a:solidFill>
                  <a:srgbClr val="0F0F7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Department</a:t>
            </a:r>
            <a:endParaRPr lang="ko-KR" altLang="en-US" sz="3000" dirty="0">
              <a:solidFill>
                <a:srgbClr val="0F0F7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28" name="TextBox 27"/>
          <p:cNvSpPr txBox="1"/>
          <p:nvPr/>
        </p:nvSpPr>
        <p:spPr>
          <a:xfrm>
            <a:off x="11434034" y="4533222"/>
            <a:ext cx="1154162" cy="461665"/>
          </a:xfrm>
          <a:prstGeom prst="rect">
            <a:avLst/>
          </a:prstGeom>
          <a:noFill/>
        </p:spPr>
        <p:txBody>
          <a:bodyPr wrap="none" lIns="0" tIns="0" rIns="0" bIns="0">
            <a:spAutoFit/>
          </a:bodyPr>
          <a:lstStyle/>
          <a:p>
            <a:pPr lvl="0">
              <a:defRPr/>
            </a:pPr>
            <a:r>
              <a:rPr lang="ko-KR" altLang="en-US" sz="3000" dirty="0">
                <a:solidFill>
                  <a:schemeClr val="bg1"/>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이준수</a:t>
            </a:r>
          </a:p>
        </p:txBody>
      </p:sp>
      <p:sp>
        <p:nvSpPr>
          <p:cNvPr id="30" name="모서리가 둥근 직사각형 29"/>
          <p:cNvSpPr/>
          <p:nvPr/>
        </p:nvSpPr>
        <p:spPr>
          <a:xfrm>
            <a:off x="8947299" y="4418823"/>
            <a:ext cx="2196024" cy="690429"/>
          </a:xfrm>
          <a:prstGeom prst="roundRect">
            <a:avLst>
              <a:gd name="adj" fmla="val 5630"/>
            </a:avLst>
          </a:prstGeom>
          <a:solidFill>
            <a:srgbClr val="E0E0E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anchor="ctr"/>
          <a:lstStyle/>
          <a:p>
            <a:pPr algn="ctr">
              <a:defRPr/>
            </a:pPr>
            <a:r>
              <a:rPr lang="en-US" altLang="ko-KR" sz="3000" dirty="0">
                <a:solidFill>
                  <a:srgbClr val="0F0F7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Name</a:t>
            </a:r>
            <a:endParaRPr lang="ko-KR" altLang="en-US" sz="3000" dirty="0">
              <a:solidFill>
                <a:srgbClr val="0F0F70"/>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nvGrpSpPr>
          <p:cNvPr id="10" name="그룹 9">
            <a:extLst>
              <a:ext uri="{FF2B5EF4-FFF2-40B4-BE49-F238E27FC236}">
                <a16:creationId xmlns:a16="http://schemas.microsoft.com/office/drawing/2014/main" id="{2218CB46-F473-2643-DE96-12F171D91FBF}"/>
              </a:ext>
            </a:extLst>
          </p:cNvPr>
          <p:cNvGrpSpPr/>
          <p:nvPr/>
        </p:nvGrpSpPr>
        <p:grpSpPr>
          <a:xfrm>
            <a:off x="426720" y="10519111"/>
            <a:ext cx="13465495" cy="1299077"/>
            <a:chOff x="838481" y="23177284"/>
            <a:chExt cx="13465495" cy="1299077"/>
          </a:xfrm>
        </p:grpSpPr>
        <p:grpSp>
          <p:nvGrpSpPr>
            <p:cNvPr id="33" name="그룹 32"/>
            <p:cNvGrpSpPr/>
            <p:nvPr/>
          </p:nvGrpSpPr>
          <p:grpSpPr>
            <a:xfrm>
              <a:off x="838481" y="23177284"/>
              <a:ext cx="13465495" cy="1299077"/>
              <a:chOff x="1170435" y="9375993"/>
              <a:chExt cx="13465495" cy="1299077"/>
            </a:xfrm>
          </p:grpSpPr>
          <p:sp>
            <p:nvSpPr>
              <p:cNvPr id="34" name="타원 33"/>
              <p:cNvSpPr/>
              <p:nvPr/>
            </p:nvSpPr>
            <p:spPr>
              <a:xfrm>
                <a:off x="1170435" y="9378926"/>
                <a:ext cx="1296144" cy="1296144"/>
              </a:xfrm>
              <a:prstGeom prst="ellipse">
                <a:avLst/>
              </a:prstGeom>
              <a:solidFill>
                <a:srgbClr val="C5A86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35" name="모서리가 둥근 직사각형 34"/>
              <p:cNvSpPr/>
              <p:nvPr/>
            </p:nvSpPr>
            <p:spPr>
              <a:xfrm>
                <a:off x="2466579" y="9375993"/>
                <a:ext cx="12169351" cy="1244723"/>
              </a:xfrm>
              <a:prstGeom prst="roundRect">
                <a:avLst>
                  <a:gd name="adj" fmla="val 50000"/>
                </a:avLst>
              </a:prstGeom>
              <a:solidFill>
                <a:srgbClr val="C5A86F"/>
              </a:solidFill>
              <a:ln>
                <a:noFill/>
              </a:ln>
            </p:spPr>
            <p:style>
              <a:lnRef idx="2">
                <a:schemeClr val="accent1">
                  <a:shade val="50000"/>
                </a:schemeClr>
              </a:lnRef>
              <a:fillRef idx="1">
                <a:schemeClr val="accent1"/>
              </a:fillRef>
              <a:effectRef idx="0">
                <a:schemeClr val="accent1"/>
              </a:effectRef>
              <a:fontRef idx="minor">
                <a:schemeClr val="lt1"/>
              </a:fontRef>
            </p:style>
            <p:txBody>
              <a:bodyPr lIns="398612" tIns="199304" rIns="398612" bIns="199304" anchor="ctr"/>
              <a:lstStyle/>
              <a:p>
                <a:pPr lvl="0">
                  <a:defRPr/>
                </a:pPr>
                <a:r>
                  <a:rPr lang="en-US" altLang="ko-KR" sz="4000" dirty="0">
                    <a:solidFill>
                      <a:schemeClr val="bg2">
                        <a:lumMod val="2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Project Workflow</a:t>
                </a:r>
                <a:endParaRPr lang="ko-KR" altLang="en-US" sz="4000" dirty="0">
                  <a:solidFill>
                    <a:schemeClr val="bg2">
                      <a:lumMod val="2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sp>
          <p:nvSpPr>
            <p:cNvPr id="89" name="Freeform 70"/>
            <p:cNvSpPr>
              <a:spLocks noEditPoints="1"/>
            </p:cNvSpPr>
            <p:nvPr/>
          </p:nvSpPr>
          <p:spPr bwMode="auto">
            <a:xfrm>
              <a:off x="1126514" y="23417893"/>
              <a:ext cx="720078" cy="763503"/>
            </a:xfrm>
            <a:custGeom>
              <a:avLst/>
              <a:gdLst>
                <a:gd name="T0" fmla="*/ 28 w 144"/>
                <a:gd name="T1" fmla="*/ 120 h 176"/>
                <a:gd name="T2" fmla="*/ 28 w 144"/>
                <a:gd name="T3" fmla="*/ 128 h 176"/>
                <a:gd name="T4" fmla="*/ 80 w 144"/>
                <a:gd name="T5" fmla="*/ 124 h 176"/>
                <a:gd name="T6" fmla="*/ 60 w 144"/>
                <a:gd name="T7" fmla="*/ 144 h 176"/>
                <a:gd name="T8" fmla="*/ 24 w 144"/>
                <a:gd name="T9" fmla="*/ 148 h 176"/>
                <a:gd name="T10" fmla="*/ 60 w 144"/>
                <a:gd name="T11" fmla="*/ 152 h 176"/>
                <a:gd name="T12" fmla="*/ 60 w 144"/>
                <a:gd name="T13" fmla="*/ 144 h 176"/>
                <a:gd name="T14" fmla="*/ 44 w 144"/>
                <a:gd name="T15" fmla="*/ 80 h 176"/>
                <a:gd name="T16" fmla="*/ 44 w 144"/>
                <a:gd name="T17" fmla="*/ 72 h 176"/>
                <a:gd name="T18" fmla="*/ 24 w 144"/>
                <a:gd name="T19" fmla="*/ 76 h 176"/>
                <a:gd name="T20" fmla="*/ 24 w 144"/>
                <a:gd name="T21" fmla="*/ 100 h 176"/>
                <a:gd name="T22" fmla="*/ 76 w 144"/>
                <a:gd name="T23" fmla="*/ 104 h 176"/>
                <a:gd name="T24" fmla="*/ 76 w 144"/>
                <a:gd name="T25" fmla="*/ 96 h 176"/>
                <a:gd name="T26" fmla="*/ 24 w 144"/>
                <a:gd name="T27" fmla="*/ 100 h 176"/>
                <a:gd name="T28" fmla="*/ 56 w 144"/>
                <a:gd name="T29" fmla="*/ 0 h 176"/>
                <a:gd name="T30" fmla="*/ 40 w 144"/>
                <a:gd name="T31" fmla="*/ 28 h 176"/>
                <a:gd name="T32" fmla="*/ 48 w 144"/>
                <a:gd name="T33" fmla="*/ 28 h 176"/>
                <a:gd name="T34" fmla="*/ 56 w 144"/>
                <a:gd name="T35" fmla="*/ 8 h 176"/>
                <a:gd name="T36" fmla="*/ 104 w 144"/>
                <a:gd name="T37" fmla="*/ 32 h 176"/>
                <a:gd name="T38" fmla="*/ 136 w 144"/>
                <a:gd name="T39" fmla="*/ 40 h 176"/>
                <a:gd name="T40" fmla="*/ 128 w 144"/>
                <a:gd name="T41" fmla="*/ 128 h 176"/>
                <a:gd name="T42" fmla="*/ 112 w 144"/>
                <a:gd name="T43" fmla="*/ 132 h 176"/>
                <a:gd name="T44" fmla="*/ 128 w 144"/>
                <a:gd name="T45" fmla="*/ 136 h 176"/>
                <a:gd name="T46" fmla="*/ 144 w 144"/>
                <a:gd name="T47" fmla="*/ 32 h 176"/>
                <a:gd name="T48" fmla="*/ 112 w 144"/>
                <a:gd name="T49" fmla="*/ 32 h 176"/>
                <a:gd name="T50" fmla="*/ 133 w 144"/>
                <a:gd name="T51" fmla="*/ 32 h 176"/>
                <a:gd name="T52" fmla="*/ 16 w 144"/>
                <a:gd name="T53" fmla="*/ 40 h 176"/>
                <a:gd name="T54" fmla="*/ 0 w 144"/>
                <a:gd name="T55" fmla="*/ 160 h 176"/>
                <a:gd name="T56" fmla="*/ 88 w 144"/>
                <a:gd name="T57" fmla="*/ 176 h 176"/>
                <a:gd name="T58" fmla="*/ 104 w 144"/>
                <a:gd name="T59" fmla="*/ 72 h 176"/>
                <a:gd name="T60" fmla="*/ 16 w 144"/>
                <a:gd name="T61" fmla="*/ 40 h 176"/>
                <a:gd name="T62" fmla="*/ 88 w 144"/>
                <a:gd name="T63" fmla="*/ 168 h 176"/>
                <a:gd name="T64" fmla="*/ 8 w 144"/>
                <a:gd name="T65" fmla="*/ 160 h 176"/>
                <a:gd name="T66" fmla="*/ 16 w 144"/>
                <a:gd name="T67" fmla="*/ 48 h 176"/>
                <a:gd name="T68" fmla="*/ 64 w 144"/>
                <a:gd name="T69" fmla="*/ 72 h 176"/>
                <a:gd name="T70" fmla="*/ 96 w 144"/>
                <a:gd name="T71" fmla="*/ 80 h 176"/>
                <a:gd name="T72" fmla="*/ 72 w 144"/>
                <a:gd name="T73" fmla="*/ 72 h 176"/>
                <a:gd name="T74" fmla="*/ 93 w 144"/>
                <a:gd name="T75" fmla="*/ 72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4" h="176">
                  <a:moveTo>
                    <a:pt x="76" y="120"/>
                  </a:moveTo>
                  <a:cubicBezTo>
                    <a:pt x="28" y="120"/>
                    <a:pt x="28" y="120"/>
                    <a:pt x="28" y="120"/>
                  </a:cubicBezTo>
                  <a:cubicBezTo>
                    <a:pt x="26" y="120"/>
                    <a:pt x="24" y="122"/>
                    <a:pt x="24" y="124"/>
                  </a:cubicBezTo>
                  <a:cubicBezTo>
                    <a:pt x="24" y="126"/>
                    <a:pt x="26" y="128"/>
                    <a:pt x="28" y="128"/>
                  </a:cubicBezTo>
                  <a:cubicBezTo>
                    <a:pt x="76" y="128"/>
                    <a:pt x="76" y="128"/>
                    <a:pt x="76" y="128"/>
                  </a:cubicBezTo>
                  <a:cubicBezTo>
                    <a:pt x="78" y="128"/>
                    <a:pt x="80" y="126"/>
                    <a:pt x="80" y="124"/>
                  </a:cubicBezTo>
                  <a:cubicBezTo>
                    <a:pt x="80" y="122"/>
                    <a:pt x="78" y="120"/>
                    <a:pt x="76" y="120"/>
                  </a:cubicBezTo>
                  <a:moveTo>
                    <a:pt x="60" y="144"/>
                  </a:moveTo>
                  <a:cubicBezTo>
                    <a:pt x="28" y="144"/>
                    <a:pt x="28" y="144"/>
                    <a:pt x="28" y="144"/>
                  </a:cubicBezTo>
                  <a:cubicBezTo>
                    <a:pt x="26" y="144"/>
                    <a:pt x="24" y="146"/>
                    <a:pt x="24" y="148"/>
                  </a:cubicBezTo>
                  <a:cubicBezTo>
                    <a:pt x="24" y="150"/>
                    <a:pt x="26" y="152"/>
                    <a:pt x="28" y="152"/>
                  </a:cubicBezTo>
                  <a:cubicBezTo>
                    <a:pt x="60" y="152"/>
                    <a:pt x="60" y="152"/>
                    <a:pt x="60" y="152"/>
                  </a:cubicBezTo>
                  <a:cubicBezTo>
                    <a:pt x="62" y="152"/>
                    <a:pt x="64" y="150"/>
                    <a:pt x="64" y="148"/>
                  </a:cubicBezTo>
                  <a:cubicBezTo>
                    <a:pt x="64" y="146"/>
                    <a:pt x="62" y="144"/>
                    <a:pt x="60" y="144"/>
                  </a:cubicBezTo>
                  <a:moveTo>
                    <a:pt x="28" y="80"/>
                  </a:moveTo>
                  <a:cubicBezTo>
                    <a:pt x="44" y="80"/>
                    <a:pt x="44" y="80"/>
                    <a:pt x="44" y="80"/>
                  </a:cubicBezTo>
                  <a:cubicBezTo>
                    <a:pt x="46" y="80"/>
                    <a:pt x="48" y="78"/>
                    <a:pt x="48" y="76"/>
                  </a:cubicBezTo>
                  <a:cubicBezTo>
                    <a:pt x="48" y="74"/>
                    <a:pt x="46" y="72"/>
                    <a:pt x="44" y="72"/>
                  </a:cubicBezTo>
                  <a:cubicBezTo>
                    <a:pt x="28" y="72"/>
                    <a:pt x="28" y="72"/>
                    <a:pt x="28" y="72"/>
                  </a:cubicBezTo>
                  <a:cubicBezTo>
                    <a:pt x="26" y="72"/>
                    <a:pt x="24" y="74"/>
                    <a:pt x="24" y="76"/>
                  </a:cubicBezTo>
                  <a:cubicBezTo>
                    <a:pt x="24" y="78"/>
                    <a:pt x="26" y="80"/>
                    <a:pt x="28" y="80"/>
                  </a:cubicBezTo>
                  <a:moveTo>
                    <a:pt x="24" y="100"/>
                  </a:moveTo>
                  <a:cubicBezTo>
                    <a:pt x="24" y="102"/>
                    <a:pt x="26" y="104"/>
                    <a:pt x="28" y="104"/>
                  </a:cubicBezTo>
                  <a:cubicBezTo>
                    <a:pt x="76" y="104"/>
                    <a:pt x="76" y="104"/>
                    <a:pt x="76" y="104"/>
                  </a:cubicBezTo>
                  <a:cubicBezTo>
                    <a:pt x="78" y="104"/>
                    <a:pt x="80" y="102"/>
                    <a:pt x="80" y="100"/>
                  </a:cubicBezTo>
                  <a:cubicBezTo>
                    <a:pt x="80" y="98"/>
                    <a:pt x="78" y="96"/>
                    <a:pt x="76" y="96"/>
                  </a:cubicBezTo>
                  <a:cubicBezTo>
                    <a:pt x="28" y="96"/>
                    <a:pt x="28" y="96"/>
                    <a:pt x="28" y="96"/>
                  </a:cubicBezTo>
                  <a:cubicBezTo>
                    <a:pt x="26" y="96"/>
                    <a:pt x="24" y="98"/>
                    <a:pt x="24" y="100"/>
                  </a:cubicBezTo>
                  <a:moveTo>
                    <a:pt x="116" y="0"/>
                  </a:moveTo>
                  <a:cubicBezTo>
                    <a:pt x="56" y="0"/>
                    <a:pt x="56" y="0"/>
                    <a:pt x="56" y="0"/>
                  </a:cubicBezTo>
                  <a:cubicBezTo>
                    <a:pt x="47" y="0"/>
                    <a:pt x="40" y="7"/>
                    <a:pt x="40" y="16"/>
                  </a:cubicBezTo>
                  <a:cubicBezTo>
                    <a:pt x="40" y="28"/>
                    <a:pt x="40" y="28"/>
                    <a:pt x="40" y="28"/>
                  </a:cubicBezTo>
                  <a:cubicBezTo>
                    <a:pt x="40" y="30"/>
                    <a:pt x="42" y="32"/>
                    <a:pt x="44" y="32"/>
                  </a:cubicBezTo>
                  <a:cubicBezTo>
                    <a:pt x="46" y="32"/>
                    <a:pt x="48" y="30"/>
                    <a:pt x="48" y="28"/>
                  </a:cubicBezTo>
                  <a:cubicBezTo>
                    <a:pt x="48" y="16"/>
                    <a:pt x="48" y="16"/>
                    <a:pt x="48" y="16"/>
                  </a:cubicBezTo>
                  <a:cubicBezTo>
                    <a:pt x="48" y="12"/>
                    <a:pt x="52" y="8"/>
                    <a:pt x="56" y="8"/>
                  </a:cubicBezTo>
                  <a:cubicBezTo>
                    <a:pt x="104" y="8"/>
                    <a:pt x="104" y="8"/>
                    <a:pt x="104" y="8"/>
                  </a:cubicBezTo>
                  <a:cubicBezTo>
                    <a:pt x="104" y="32"/>
                    <a:pt x="104" y="32"/>
                    <a:pt x="104" y="32"/>
                  </a:cubicBezTo>
                  <a:cubicBezTo>
                    <a:pt x="104" y="36"/>
                    <a:pt x="108" y="40"/>
                    <a:pt x="112" y="40"/>
                  </a:cubicBezTo>
                  <a:cubicBezTo>
                    <a:pt x="136" y="40"/>
                    <a:pt x="136" y="40"/>
                    <a:pt x="136" y="40"/>
                  </a:cubicBezTo>
                  <a:cubicBezTo>
                    <a:pt x="136" y="120"/>
                    <a:pt x="136" y="120"/>
                    <a:pt x="136" y="120"/>
                  </a:cubicBezTo>
                  <a:cubicBezTo>
                    <a:pt x="136" y="124"/>
                    <a:pt x="132" y="128"/>
                    <a:pt x="128" y="128"/>
                  </a:cubicBezTo>
                  <a:cubicBezTo>
                    <a:pt x="116" y="128"/>
                    <a:pt x="116" y="128"/>
                    <a:pt x="116" y="128"/>
                  </a:cubicBezTo>
                  <a:cubicBezTo>
                    <a:pt x="114" y="128"/>
                    <a:pt x="112" y="130"/>
                    <a:pt x="112" y="132"/>
                  </a:cubicBezTo>
                  <a:cubicBezTo>
                    <a:pt x="112" y="134"/>
                    <a:pt x="114" y="136"/>
                    <a:pt x="116" y="136"/>
                  </a:cubicBezTo>
                  <a:cubicBezTo>
                    <a:pt x="128" y="136"/>
                    <a:pt x="128" y="136"/>
                    <a:pt x="128" y="136"/>
                  </a:cubicBezTo>
                  <a:cubicBezTo>
                    <a:pt x="137" y="136"/>
                    <a:pt x="144" y="129"/>
                    <a:pt x="144" y="120"/>
                  </a:cubicBezTo>
                  <a:cubicBezTo>
                    <a:pt x="144" y="32"/>
                    <a:pt x="144" y="32"/>
                    <a:pt x="144" y="32"/>
                  </a:cubicBezTo>
                  <a:lnTo>
                    <a:pt x="116" y="0"/>
                  </a:lnTo>
                  <a:close/>
                  <a:moveTo>
                    <a:pt x="112" y="32"/>
                  </a:moveTo>
                  <a:cubicBezTo>
                    <a:pt x="112" y="9"/>
                    <a:pt x="112" y="9"/>
                    <a:pt x="112" y="9"/>
                  </a:cubicBezTo>
                  <a:cubicBezTo>
                    <a:pt x="133" y="32"/>
                    <a:pt x="133" y="32"/>
                    <a:pt x="133" y="32"/>
                  </a:cubicBezTo>
                  <a:lnTo>
                    <a:pt x="112" y="32"/>
                  </a:lnTo>
                  <a:close/>
                  <a:moveTo>
                    <a:pt x="16" y="40"/>
                  </a:moveTo>
                  <a:cubicBezTo>
                    <a:pt x="7" y="40"/>
                    <a:pt x="0" y="47"/>
                    <a:pt x="0" y="56"/>
                  </a:cubicBezTo>
                  <a:cubicBezTo>
                    <a:pt x="0" y="160"/>
                    <a:pt x="0" y="160"/>
                    <a:pt x="0" y="160"/>
                  </a:cubicBezTo>
                  <a:cubicBezTo>
                    <a:pt x="0" y="169"/>
                    <a:pt x="7" y="176"/>
                    <a:pt x="16" y="176"/>
                  </a:cubicBezTo>
                  <a:cubicBezTo>
                    <a:pt x="88" y="176"/>
                    <a:pt x="88" y="176"/>
                    <a:pt x="88" y="176"/>
                  </a:cubicBezTo>
                  <a:cubicBezTo>
                    <a:pt x="97" y="176"/>
                    <a:pt x="104" y="169"/>
                    <a:pt x="104" y="160"/>
                  </a:cubicBezTo>
                  <a:cubicBezTo>
                    <a:pt x="104" y="72"/>
                    <a:pt x="104" y="72"/>
                    <a:pt x="104" y="72"/>
                  </a:cubicBezTo>
                  <a:cubicBezTo>
                    <a:pt x="76" y="40"/>
                    <a:pt x="76" y="40"/>
                    <a:pt x="76" y="40"/>
                  </a:cubicBezTo>
                  <a:lnTo>
                    <a:pt x="16" y="40"/>
                  </a:lnTo>
                  <a:close/>
                  <a:moveTo>
                    <a:pt x="96" y="160"/>
                  </a:moveTo>
                  <a:cubicBezTo>
                    <a:pt x="96" y="164"/>
                    <a:pt x="92" y="168"/>
                    <a:pt x="88" y="168"/>
                  </a:cubicBezTo>
                  <a:cubicBezTo>
                    <a:pt x="16" y="168"/>
                    <a:pt x="16" y="168"/>
                    <a:pt x="16" y="168"/>
                  </a:cubicBezTo>
                  <a:cubicBezTo>
                    <a:pt x="12" y="168"/>
                    <a:pt x="8" y="164"/>
                    <a:pt x="8" y="160"/>
                  </a:cubicBezTo>
                  <a:cubicBezTo>
                    <a:pt x="8" y="56"/>
                    <a:pt x="8" y="56"/>
                    <a:pt x="8" y="56"/>
                  </a:cubicBezTo>
                  <a:cubicBezTo>
                    <a:pt x="8" y="52"/>
                    <a:pt x="12" y="48"/>
                    <a:pt x="16" y="48"/>
                  </a:cubicBezTo>
                  <a:cubicBezTo>
                    <a:pt x="64" y="48"/>
                    <a:pt x="64" y="48"/>
                    <a:pt x="64" y="48"/>
                  </a:cubicBezTo>
                  <a:cubicBezTo>
                    <a:pt x="64" y="72"/>
                    <a:pt x="64" y="72"/>
                    <a:pt x="64" y="72"/>
                  </a:cubicBezTo>
                  <a:cubicBezTo>
                    <a:pt x="64" y="76"/>
                    <a:pt x="68" y="80"/>
                    <a:pt x="72" y="80"/>
                  </a:cubicBezTo>
                  <a:cubicBezTo>
                    <a:pt x="96" y="80"/>
                    <a:pt x="96" y="80"/>
                    <a:pt x="96" y="80"/>
                  </a:cubicBezTo>
                  <a:lnTo>
                    <a:pt x="96" y="160"/>
                  </a:lnTo>
                  <a:close/>
                  <a:moveTo>
                    <a:pt x="72" y="72"/>
                  </a:moveTo>
                  <a:cubicBezTo>
                    <a:pt x="72" y="49"/>
                    <a:pt x="72" y="49"/>
                    <a:pt x="72" y="49"/>
                  </a:cubicBezTo>
                  <a:cubicBezTo>
                    <a:pt x="93" y="72"/>
                    <a:pt x="93" y="72"/>
                    <a:pt x="93" y="72"/>
                  </a:cubicBezTo>
                  <a:lnTo>
                    <a:pt x="72" y="72"/>
                  </a:lnTo>
                  <a:close/>
                </a:path>
              </a:pathLst>
            </a:custGeom>
            <a:solidFill>
              <a:schemeClr val="bg2">
                <a:lumMod val="25000"/>
              </a:schemeClr>
            </a:solidFill>
            <a:ln>
              <a:noFill/>
            </a:ln>
          </p:spPr>
          <p:txBody>
            <a:bodyPr vert="horz" wrap="square" lIns="91440" tIns="45720" rIns="91440" bIns="45720" numCol="1" anchor="t" anchorCtr="0" compatLnSpc="1">
              <a:prstTxWarp prst="textNoShape">
                <a:avLst/>
              </a:prstTxWarp>
            </a:bodyPr>
            <a:lstStyle/>
            <a:p>
              <a:endParaRPr lang="en-US">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grpSp>
        <p:nvGrpSpPr>
          <p:cNvPr id="11" name="그룹 10">
            <a:extLst>
              <a:ext uri="{FF2B5EF4-FFF2-40B4-BE49-F238E27FC236}">
                <a16:creationId xmlns:a16="http://schemas.microsoft.com/office/drawing/2014/main" id="{39AA0A1D-9031-5097-8499-9C7D24697559}"/>
              </a:ext>
            </a:extLst>
          </p:cNvPr>
          <p:cNvGrpSpPr/>
          <p:nvPr/>
        </p:nvGrpSpPr>
        <p:grpSpPr>
          <a:xfrm>
            <a:off x="426720" y="6335158"/>
            <a:ext cx="13465495" cy="1299077"/>
            <a:chOff x="666381" y="6426598"/>
            <a:chExt cx="13465495" cy="1299077"/>
          </a:xfrm>
        </p:grpSpPr>
        <p:grpSp>
          <p:nvGrpSpPr>
            <p:cNvPr id="7" name="그룹 6"/>
            <p:cNvGrpSpPr/>
            <p:nvPr/>
          </p:nvGrpSpPr>
          <p:grpSpPr>
            <a:xfrm>
              <a:off x="666381" y="6426598"/>
              <a:ext cx="13465495" cy="1299077"/>
              <a:chOff x="1170435" y="9375993"/>
              <a:chExt cx="13465495" cy="1299077"/>
            </a:xfrm>
          </p:grpSpPr>
          <p:sp>
            <p:nvSpPr>
              <p:cNvPr id="2" name="타원 1"/>
              <p:cNvSpPr/>
              <p:nvPr/>
            </p:nvSpPr>
            <p:spPr>
              <a:xfrm>
                <a:off x="1170435" y="9378926"/>
                <a:ext cx="1296144" cy="1296144"/>
              </a:xfrm>
              <a:prstGeom prst="ellipse">
                <a:avLst/>
              </a:prstGeom>
              <a:solidFill>
                <a:srgbClr val="DCDAB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3" name="모서리가 둥근 직사각형 2"/>
              <p:cNvSpPr/>
              <p:nvPr/>
            </p:nvSpPr>
            <p:spPr>
              <a:xfrm>
                <a:off x="2466579" y="9375993"/>
                <a:ext cx="12169351" cy="1244723"/>
              </a:xfrm>
              <a:prstGeom prst="roundRect">
                <a:avLst>
                  <a:gd name="adj" fmla="val 50000"/>
                </a:avLst>
              </a:prstGeom>
              <a:solidFill>
                <a:srgbClr val="DCDAB2"/>
              </a:solidFill>
              <a:ln>
                <a:noFill/>
              </a:ln>
            </p:spPr>
            <p:style>
              <a:lnRef idx="2">
                <a:schemeClr val="accent1">
                  <a:shade val="50000"/>
                </a:schemeClr>
              </a:lnRef>
              <a:fillRef idx="1">
                <a:schemeClr val="accent1"/>
              </a:fillRef>
              <a:effectRef idx="0">
                <a:schemeClr val="accent1"/>
              </a:effectRef>
              <a:fontRef idx="minor">
                <a:schemeClr val="lt1"/>
              </a:fontRef>
            </p:style>
            <p:txBody>
              <a:bodyPr lIns="398612" tIns="199304" rIns="398612" bIns="199304" anchor="ctr"/>
              <a:lstStyle/>
              <a:p>
                <a:pPr lvl="0">
                  <a:defRPr/>
                </a:pPr>
                <a:r>
                  <a:rPr lang="en-US" altLang="ko-KR" sz="4000" dirty="0">
                    <a:solidFill>
                      <a:schemeClr val="bg2">
                        <a:lumMod val="2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Background and Need for the Study</a:t>
                </a:r>
                <a:endParaRPr lang="ko-KR" altLang="en-US" sz="4000" dirty="0">
                  <a:solidFill>
                    <a:schemeClr val="bg2">
                      <a:lumMod val="2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sp>
          <p:nvSpPr>
            <p:cNvPr id="91" name="Freeform 172"/>
            <p:cNvSpPr>
              <a:spLocks noEditPoints="1"/>
            </p:cNvSpPr>
            <p:nvPr/>
          </p:nvSpPr>
          <p:spPr bwMode="auto">
            <a:xfrm>
              <a:off x="1026419" y="6711170"/>
              <a:ext cx="509668" cy="675578"/>
            </a:xfrm>
            <a:custGeom>
              <a:avLst/>
              <a:gdLst>
                <a:gd name="T0" fmla="*/ 120 w 176"/>
                <a:gd name="T1" fmla="*/ 256 h 256"/>
                <a:gd name="T2" fmla="*/ 120 w 176"/>
                <a:gd name="T3" fmla="*/ 232 h 256"/>
                <a:gd name="T4" fmla="*/ 128 w 176"/>
                <a:gd name="T5" fmla="*/ 232 h 256"/>
                <a:gd name="T6" fmla="*/ 128 w 176"/>
                <a:gd name="T7" fmla="*/ 208 h 256"/>
                <a:gd name="T8" fmla="*/ 136 w 176"/>
                <a:gd name="T9" fmla="*/ 208 h 256"/>
                <a:gd name="T10" fmla="*/ 136 w 176"/>
                <a:gd name="T11" fmla="*/ 184 h 256"/>
                <a:gd name="T12" fmla="*/ 136 w 176"/>
                <a:gd name="T13" fmla="*/ 162 h 256"/>
                <a:gd name="T14" fmla="*/ 176 w 176"/>
                <a:gd name="T15" fmla="*/ 88 h 256"/>
                <a:gd name="T16" fmla="*/ 88 w 176"/>
                <a:gd name="T17" fmla="*/ 0 h 256"/>
                <a:gd name="T18" fmla="*/ 0 w 176"/>
                <a:gd name="T19" fmla="*/ 88 h 256"/>
                <a:gd name="T20" fmla="*/ 40 w 176"/>
                <a:gd name="T21" fmla="*/ 162 h 256"/>
                <a:gd name="T22" fmla="*/ 40 w 176"/>
                <a:gd name="T23" fmla="*/ 176 h 256"/>
                <a:gd name="T24" fmla="*/ 40 w 176"/>
                <a:gd name="T25" fmla="*/ 184 h 256"/>
                <a:gd name="T26" fmla="*/ 40 w 176"/>
                <a:gd name="T27" fmla="*/ 208 h 256"/>
                <a:gd name="T28" fmla="*/ 48 w 176"/>
                <a:gd name="T29" fmla="*/ 208 h 256"/>
                <a:gd name="T30" fmla="*/ 48 w 176"/>
                <a:gd name="T31" fmla="*/ 232 h 256"/>
                <a:gd name="T32" fmla="*/ 56 w 176"/>
                <a:gd name="T33" fmla="*/ 232 h 256"/>
                <a:gd name="T34" fmla="*/ 56 w 176"/>
                <a:gd name="T35" fmla="*/ 256 h 256"/>
                <a:gd name="T36" fmla="*/ 120 w 176"/>
                <a:gd name="T37" fmla="*/ 256 h 256"/>
                <a:gd name="T38" fmla="*/ 112 w 176"/>
                <a:gd name="T39" fmla="*/ 248 h 256"/>
                <a:gd name="T40" fmla="*/ 64 w 176"/>
                <a:gd name="T41" fmla="*/ 248 h 256"/>
                <a:gd name="T42" fmla="*/ 64 w 176"/>
                <a:gd name="T43" fmla="*/ 232 h 256"/>
                <a:gd name="T44" fmla="*/ 112 w 176"/>
                <a:gd name="T45" fmla="*/ 232 h 256"/>
                <a:gd name="T46" fmla="*/ 112 w 176"/>
                <a:gd name="T47" fmla="*/ 248 h 256"/>
                <a:gd name="T48" fmla="*/ 46 w 176"/>
                <a:gd name="T49" fmla="*/ 157 h 256"/>
                <a:gd name="T50" fmla="*/ 8 w 176"/>
                <a:gd name="T51" fmla="*/ 88 h 256"/>
                <a:gd name="T52" fmla="*/ 88 w 176"/>
                <a:gd name="T53" fmla="*/ 8 h 256"/>
                <a:gd name="T54" fmla="*/ 168 w 176"/>
                <a:gd name="T55" fmla="*/ 88 h 256"/>
                <a:gd name="T56" fmla="*/ 130 w 176"/>
                <a:gd name="T57" fmla="*/ 156 h 256"/>
                <a:gd name="T58" fmla="*/ 128 w 176"/>
                <a:gd name="T59" fmla="*/ 157 h 256"/>
                <a:gd name="T60" fmla="*/ 128 w 176"/>
                <a:gd name="T61" fmla="*/ 176 h 256"/>
                <a:gd name="T62" fmla="*/ 109 w 176"/>
                <a:gd name="T63" fmla="*/ 176 h 256"/>
                <a:gd name="T64" fmla="*/ 120 w 176"/>
                <a:gd name="T65" fmla="*/ 101 h 256"/>
                <a:gd name="T66" fmla="*/ 112 w 176"/>
                <a:gd name="T67" fmla="*/ 99 h 256"/>
                <a:gd name="T68" fmla="*/ 112 w 176"/>
                <a:gd name="T69" fmla="*/ 102 h 256"/>
                <a:gd name="T70" fmla="*/ 100 w 176"/>
                <a:gd name="T71" fmla="*/ 111 h 256"/>
                <a:gd name="T72" fmla="*/ 88 w 176"/>
                <a:gd name="T73" fmla="*/ 98 h 256"/>
                <a:gd name="T74" fmla="*/ 76 w 176"/>
                <a:gd name="T75" fmla="*/ 111 h 256"/>
                <a:gd name="T76" fmla="*/ 64 w 176"/>
                <a:gd name="T77" fmla="*/ 102 h 256"/>
                <a:gd name="T78" fmla="*/ 64 w 176"/>
                <a:gd name="T79" fmla="*/ 99 h 256"/>
                <a:gd name="T80" fmla="*/ 56 w 176"/>
                <a:gd name="T81" fmla="*/ 101 h 256"/>
                <a:gd name="T82" fmla="*/ 67 w 176"/>
                <a:gd name="T83" fmla="*/ 176 h 256"/>
                <a:gd name="T84" fmla="*/ 48 w 176"/>
                <a:gd name="T85" fmla="*/ 176 h 256"/>
                <a:gd name="T86" fmla="*/ 48 w 176"/>
                <a:gd name="T87" fmla="*/ 158 h 256"/>
                <a:gd name="T88" fmla="*/ 46 w 176"/>
                <a:gd name="T89" fmla="*/ 157 h 256"/>
                <a:gd name="T90" fmla="*/ 76 w 176"/>
                <a:gd name="T91" fmla="*/ 176 h 256"/>
                <a:gd name="T92" fmla="*/ 66 w 176"/>
                <a:gd name="T93" fmla="*/ 114 h 256"/>
                <a:gd name="T94" fmla="*/ 76 w 176"/>
                <a:gd name="T95" fmla="*/ 121 h 256"/>
                <a:gd name="T96" fmla="*/ 88 w 176"/>
                <a:gd name="T97" fmla="*/ 110 h 256"/>
                <a:gd name="T98" fmla="*/ 100 w 176"/>
                <a:gd name="T99" fmla="*/ 121 h 256"/>
                <a:gd name="T100" fmla="*/ 110 w 176"/>
                <a:gd name="T101" fmla="*/ 114 h 256"/>
                <a:gd name="T102" fmla="*/ 101 w 176"/>
                <a:gd name="T103" fmla="*/ 176 h 256"/>
                <a:gd name="T104" fmla="*/ 76 w 176"/>
                <a:gd name="T105" fmla="*/ 176 h 256"/>
                <a:gd name="T106" fmla="*/ 48 w 176"/>
                <a:gd name="T107" fmla="*/ 184 h 256"/>
                <a:gd name="T108" fmla="*/ 128 w 176"/>
                <a:gd name="T109" fmla="*/ 184 h 256"/>
                <a:gd name="T110" fmla="*/ 128 w 176"/>
                <a:gd name="T111" fmla="*/ 200 h 256"/>
                <a:gd name="T112" fmla="*/ 48 w 176"/>
                <a:gd name="T113" fmla="*/ 200 h 256"/>
                <a:gd name="T114" fmla="*/ 48 w 176"/>
                <a:gd name="T115" fmla="*/ 184 h 256"/>
                <a:gd name="T116" fmla="*/ 56 w 176"/>
                <a:gd name="T117" fmla="*/ 208 h 256"/>
                <a:gd name="T118" fmla="*/ 120 w 176"/>
                <a:gd name="T119" fmla="*/ 208 h 256"/>
                <a:gd name="T120" fmla="*/ 120 w 176"/>
                <a:gd name="T121" fmla="*/ 224 h 256"/>
                <a:gd name="T122" fmla="*/ 56 w 176"/>
                <a:gd name="T123" fmla="*/ 224 h 256"/>
                <a:gd name="T124" fmla="*/ 56 w 176"/>
                <a:gd name="T125" fmla="*/ 208 h 2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76" h="256">
                  <a:moveTo>
                    <a:pt x="120" y="256"/>
                  </a:moveTo>
                  <a:cubicBezTo>
                    <a:pt x="120" y="232"/>
                    <a:pt x="120" y="232"/>
                    <a:pt x="120" y="232"/>
                  </a:cubicBezTo>
                  <a:cubicBezTo>
                    <a:pt x="128" y="232"/>
                    <a:pt x="128" y="232"/>
                    <a:pt x="128" y="232"/>
                  </a:cubicBezTo>
                  <a:cubicBezTo>
                    <a:pt x="128" y="208"/>
                    <a:pt x="128" y="208"/>
                    <a:pt x="128" y="208"/>
                  </a:cubicBezTo>
                  <a:cubicBezTo>
                    <a:pt x="136" y="208"/>
                    <a:pt x="136" y="208"/>
                    <a:pt x="136" y="208"/>
                  </a:cubicBezTo>
                  <a:cubicBezTo>
                    <a:pt x="136" y="184"/>
                    <a:pt x="136" y="184"/>
                    <a:pt x="136" y="184"/>
                  </a:cubicBezTo>
                  <a:cubicBezTo>
                    <a:pt x="136" y="162"/>
                    <a:pt x="136" y="162"/>
                    <a:pt x="136" y="162"/>
                  </a:cubicBezTo>
                  <a:cubicBezTo>
                    <a:pt x="161" y="146"/>
                    <a:pt x="176" y="118"/>
                    <a:pt x="176" y="88"/>
                  </a:cubicBezTo>
                  <a:cubicBezTo>
                    <a:pt x="176" y="40"/>
                    <a:pt x="137" y="0"/>
                    <a:pt x="88" y="0"/>
                  </a:cubicBezTo>
                  <a:cubicBezTo>
                    <a:pt x="40" y="0"/>
                    <a:pt x="0" y="40"/>
                    <a:pt x="0" y="88"/>
                  </a:cubicBezTo>
                  <a:cubicBezTo>
                    <a:pt x="0" y="118"/>
                    <a:pt x="15" y="146"/>
                    <a:pt x="40" y="162"/>
                  </a:cubicBezTo>
                  <a:cubicBezTo>
                    <a:pt x="40" y="176"/>
                    <a:pt x="40" y="176"/>
                    <a:pt x="40" y="176"/>
                  </a:cubicBezTo>
                  <a:cubicBezTo>
                    <a:pt x="40" y="184"/>
                    <a:pt x="40" y="184"/>
                    <a:pt x="40" y="184"/>
                  </a:cubicBezTo>
                  <a:cubicBezTo>
                    <a:pt x="40" y="208"/>
                    <a:pt x="40" y="208"/>
                    <a:pt x="40" y="208"/>
                  </a:cubicBezTo>
                  <a:cubicBezTo>
                    <a:pt x="48" y="208"/>
                    <a:pt x="48" y="208"/>
                    <a:pt x="48" y="208"/>
                  </a:cubicBezTo>
                  <a:cubicBezTo>
                    <a:pt x="48" y="232"/>
                    <a:pt x="48" y="232"/>
                    <a:pt x="48" y="232"/>
                  </a:cubicBezTo>
                  <a:cubicBezTo>
                    <a:pt x="56" y="232"/>
                    <a:pt x="56" y="232"/>
                    <a:pt x="56" y="232"/>
                  </a:cubicBezTo>
                  <a:cubicBezTo>
                    <a:pt x="56" y="256"/>
                    <a:pt x="56" y="256"/>
                    <a:pt x="56" y="256"/>
                  </a:cubicBezTo>
                  <a:lnTo>
                    <a:pt x="120" y="256"/>
                  </a:lnTo>
                  <a:close/>
                  <a:moveTo>
                    <a:pt x="112" y="248"/>
                  </a:moveTo>
                  <a:cubicBezTo>
                    <a:pt x="64" y="248"/>
                    <a:pt x="64" y="248"/>
                    <a:pt x="64" y="248"/>
                  </a:cubicBezTo>
                  <a:cubicBezTo>
                    <a:pt x="64" y="232"/>
                    <a:pt x="64" y="232"/>
                    <a:pt x="64" y="232"/>
                  </a:cubicBezTo>
                  <a:cubicBezTo>
                    <a:pt x="112" y="232"/>
                    <a:pt x="112" y="232"/>
                    <a:pt x="112" y="232"/>
                  </a:cubicBezTo>
                  <a:lnTo>
                    <a:pt x="112" y="248"/>
                  </a:lnTo>
                  <a:close/>
                  <a:moveTo>
                    <a:pt x="46" y="157"/>
                  </a:moveTo>
                  <a:cubicBezTo>
                    <a:pt x="23" y="142"/>
                    <a:pt x="8" y="116"/>
                    <a:pt x="8" y="88"/>
                  </a:cubicBezTo>
                  <a:cubicBezTo>
                    <a:pt x="8" y="44"/>
                    <a:pt x="44" y="8"/>
                    <a:pt x="88" y="8"/>
                  </a:cubicBezTo>
                  <a:cubicBezTo>
                    <a:pt x="132" y="8"/>
                    <a:pt x="168" y="44"/>
                    <a:pt x="168" y="88"/>
                  </a:cubicBezTo>
                  <a:cubicBezTo>
                    <a:pt x="168" y="116"/>
                    <a:pt x="154" y="142"/>
                    <a:pt x="130" y="156"/>
                  </a:cubicBezTo>
                  <a:cubicBezTo>
                    <a:pt x="128" y="157"/>
                    <a:pt x="128" y="157"/>
                    <a:pt x="128" y="157"/>
                  </a:cubicBezTo>
                  <a:cubicBezTo>
                    <a:pt x="128" y="176"/>
                    <a:pt x="128" y="176"/>
                    <a:pt x="128" y="176"/>
                  </a:cubicBezTo>
                  <a:cubicBezTo>
                    <a:pt x="109" y="176"/>
                    <a:pt x="109" y="176"/>
                    <a:pt x="109" y="176"/>
                  </a:cubicBezTo>
                  <a:cubicBezTo>
                    <a:pt x="120" y="101"/>
                    <a:pt x="120" y="101"/>
                    <a:pt x="120" y="101"/>
                  </a:cubicBezTo>
                  <a:cubicBezTo>
                    <a:pt x="112" y="99"/>
                    <a:pt x="112" y="99"/>
                    <a:pt x="112" y="99"/>
                  </a:cubicBezTo>
                  <a:cubicBezTo>
                    <a:pt x="112" y="102"/>
                    <a:pt x="112" y="102"/>
                    <a:pt x="112" y="102"/>
                  </a:cubicBezTo>
                  <a:cubicBezTo>
                    <a:pt x="100" y="111"/>
                    <a:pt x="100" y="111"/>
                    <a:pt x="100" y="111"/>
                  </a:cubicBezTo>
                  <a:cubicBezTo>
                    <a:pt x="88" y="98"/>
                    <a:pt x="88" y="98"/>
                    <a:pt x="88" y="98"/>
                  </a:cubicBezTo>
                  <a:cubicBezTo>
                    <a:pt x="76" y="111"/>
                    <a:pt x="76" y="111"/>
                    <a:pt x="76" y="111"/>
                  </a:cubicBezTo>
                  <a:cubicBezTo>
                    <a:pt x="64" y="102"/>
                    <a:pt x="64" y="102"/>
                    <a:pt x="64" y="102"/>
                  </a:cubicBezTo>
                  <a:cubicBezTo>
                    <a:pt x="64" y="99"/>
                    <a:pt x="64" y="99"/>
                    <a:pt x="64" y="99"/>
                  </a:cubicBezTo>
                  <a:cubicBezTo>
                    <a:pt x="56" y="101"/>
                    <a:pt x="56" y="101"/>
                    <a:pt x="56" y="101"/>
                  </a:cubicBezTo>
                  <a:cubicBezTo>
                    <a:pt x="67" y="176"/>
                    <a:pt x="67" y="176"/>
                    <a:pt x="67" y="176"/>
                  </a:cubicBezTo>
                  <a:cubicBezTo>
                    <a:pt x="48" y="176"/>
                    <a:pt x="48" y="176"/>
                    <a:pt x="48" y="176"/>
                  </a:cubicBezTo>
                  <a:cubicBezTo>
                    <a:pt x="48" y="158"/>
                    <a:pt x="48" y="158"/>
                    <a:pt x="48" y="158"/>
                  </a:cubicBezTo>
                  <a:lnTo>
                    <a:pt x="46" y="157"/>
                  </a:lnTo>
                  <a:close/>
                  <a:moveTo>
                    <a:pt x="76" y="176"/>
                  </a:moveTo>
                  <a:cubicBezTo>
                    <a:pt x="66" y="114"/>
                    <a:pt x="66" y="114"/>
                    <a:pt x="66" y="114"/>
                  </a:cubicBezTo>
                  <a:cubicBezTo>
                    <a:pt x="76" y="121"/>
                    <a:pt x="76" y="121"/>
                    <a:pt x="76" y="121"/>
                  </a:cubicBezTo>
                  <a:cubicBezTo>
                    <a:pt x="88" y="110"/>
                    <a:pt x="88" y="110"/>
                    <a:pt x="88" y="110"/>
                  </a:cubicBezTo>
                  <a:cubicBezTo>
                    <a:pt x="100" y="121"/>
                    <a:pt x="100" y="121"/>
                    <a:pt x="100" y="121"/>
                  </a:cubicBezTo>
                  <a:cubicBezTo>
                    <a:pt x="110" y="114"/>
                    <a:pt x="110" y="114"/>
                    <a:pt x="110" y="114"/>
                  </a:cubicBezTo>
                  <a:cubicBezTo>
                    <a:pt x="101" y="176"/>
                    <a:pt x="101" y="176"/>
                    <a:pt x="101" y="176"/>
                  </a:cubicBezTo>
                  <a:lnTo>
                    <a:pt x="76" y="176"/>
                  </a:lnTo>
                  <a:close/>
                  <a:moveTo>
                    <a:pt x="48" y="184"/>
                  </a:moveTo>
                  <a:cubicBezTo>
                    <a:pt x="128" y="184"/>
                    <a:pt x="128" y="184"/>
                    <a:pt x="128" y="184"/>
                  </a:cubicBezTo>
                  <a:cubicBezTo>
                    <a:pt x="128" y="200"/>
                    <a:pt x="128" y="200"/>
                    <a:pt x="128" y="200"/>
                  </a:cubicBezTo>
                  <a:cubicBezTo>
                    <a:pt x="48" y="200"/>
                    <a:pt x="48" y="200"/>
                    <a:pt x="48" y="200"/>
                  </a:cubicBezTo>
                  <a:lnTo>
                    <a:pt x="48" y="184"/>
                  </a:lnTo>
                  <a:close/>
                  <a:moveTo>
                    <a:pt x="56" y="208"/>
                  </a:moveTo>
                  <a:cubicBezTo>
                    <a:pt x="120" y="208"/>
                    <a:pt x="120" y="208"/>
                    <a:pt x="120" y="208"/>
                  </a:cubicBezTo>
                  <a:cubicBezTo>
                    <a:pt x="120" y="224"/>
                    <a:pt x="120" y="224"/>
                    <a:pt x="120" y="224"/>
                  </a:cubicBezTo>
                  <a:cubicBezTo>
                    <a:pt x="56" y="224"/>
                    <a:pt x="56" y="224"/>
                    <a:pt x="56" y="224"/>
                  </a:cubicBezTo>
                  <a:lnTo>
                    <a:pt x="56" y="208"/>
                  </a:lnTo>
                  <a:close/>
                </a:path>
              </a:pathLst>
            </a:custGeom>
            <a:solidFill>
              <a:schemeClr val="bg2">
                <a:lumMod val="25000"/>
              </a:schemeClr>
            </a:solidFill>
            <a:ln>
              <a:solidFill>
                <a:schemeClr val="bg2">
                  <a:lumMod val="25000"/>
                </a:schemeClr>
              </a:solidFill>
            </a:ln>
          </p:spPr>
          <p:txBody>
            <a:bodyPr vert="horz" wrap="square" lIns="91440" tIns="45720" rIns="91440" bIns="45720" numCol="1" anchor="t" anchorCtr="0" compatLnSpc="1">
              <a:prstTxWarp prst="textNoShape">
                <a:avLst/>
              </a:prstTxWarp>
            </a:bodyPr>
            <a:lstStyle/>
            <a:p>
              <a:endParaRPr lang="uk-UA">
                <a:solidFill>
                  <a:schemeClr val="bg2">
                    <a:lumMod val="2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grpSp>
        <p:nvGrpSpPr>
          <p:cNvPr id="13" name="그룹 12">
            <a:extLst>
              <a:ext uri="{FF2B5EF4-FFF2-40B4-BE49-F238E27FC236}">
                <a16:creationId xmlns:a16="http://schemas.microsoft.com/office/drawing/2014/main" id="{343C56E2-2E95-33E2-B51E-E45DCCB5E3C7}"/>
              </a:ext>
            </a:extLst>
          </p:cNvPr>
          <p:cNvGrpSpPr/>
          <p:nvPr/>
        </p:nvGrpSpPr>
        <p:grpSpPr>
          <a:xfrm>
            <a:off x="15428019" y="36218910"/>
            <a:ext cx="13465495" cy="1296144"/>
            <a:chOff x="16194728" y="23204462"/>
            <a:chExt cx="13465495" cy="1296144"/>
          </a:xfrm>
        </p:grpSpPr>
        <p:grpSp>
          <p:nvGrpSpPr>
            <p:cNvPr id="39" name="그룹 38"/>
            <p:cNvGrpSpPr/>
            <p:nvPr/>
          </p:nvGrpSpPr>
          <p:grpSpPr>
            <a:xfrm>
              <a:off x="16194728" y="23204462"/>
              <a:ext cx="13465495" cy="1296144"/>
              <a:chOff x="1170435" y="9375993"/>
              <a:chExt cx="13465495" cy="1296144"/>
            </a:xfrm>
          </p:grpSpPr>
          <p:sp>
            <p:nvSpPr>
              <p:cNvPr id="42" name="타원 41"/>
              <p:cNvSpPr/>
              <p:nvPr/>
            </p:nvSpPr>
            <p:spPr>
              <a:xfrm>
                <a:off x="1170435" y="9375993"/>
                <a:ext cx="1296144" cy="1296144"/>
              </a:xfrm>
              <a:prstGeom prst="ellipse">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46" name="모서리가 둥근 직사각형 45"/>
              <p:cNvSpPr/>
              <p:nvPr/>
            </p:nvSpPr>
            <p:spPr>
              <a:xfrm>
                <a:off x="2466579" y="9375993"/>
                <a:ext cx="12169351" cy="1244723"/>
              </a:xfrm>
              <a:prstGeom prst="roundRect">
                <a:avLst>
                  <a:gd name="adj" fmla="val 50000"/>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398612" tIns="199304" rIns="398612" bIns="199304" anchor="ctr"/>
              <a:lstStyle/>
              <a:p>
                <a:pPr lvl="0">
                  <a:defRPr/>
                </a:pPr>
                <a:r>
                  <a:rPr lang="en-US" altLang="ko-KR" sz="4000" dirty="0">
                    <a:solidFill>
                      <a:schemeClr val="tx1">
                        <a:lumMod val="95000"/>
                        <a:lumOff val="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Expected Outcomes of the Project</a:t>
                </a:r>
                <a:endParaRPr lang="ko-KR" altLang="en-US" sz="4000" dirty="0">
                  <a:solidFill>
                    <a:schemeClr val="tx1">
                      <a:lumMod val="95000"/>
                      <a:lumOff val="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grpSp>
          <p:nvGrpSpPr>
            <p:cNvPr id="107" name="Group 177">
              <a:extLst>
                <a:ext uri="{FF2B5EF4-FFF2-40B4-BE49-F238E27FC236}">
                  <a16:creationId xmlns:a16="http://schemas.microsoft.com/office/drawing/2014/main" id="{AC52C2ED-769A-6C42-85DA-88609DA47808}"/>
                </a:ext>
              </a:extLst>
            </p:cNvPr>
            <p:cNvGrpSpPr/>
            <p:nvPr/>
          </p:nvGrpSpPr>
          <p:grpSpPr>
            <a:xfrm>
              <a:off x="16511494" y="23420486"/>
              <a:ext cx="662613" cy="744126"/>
              <a:chOff x="8783638" y="3568701"/>
              <a:chExt cx="360363" cy="360363"/>
            </a:xfrm>
            <a:solidFill>
              <a:schemeClr val="tx1">
                <a:lumMod val="95000"/>
                <a:lumOff val="5000"/>
              </a:schemeClr>
            </a:solidFill>
          </p:grpSpPr>
          <p:sp>
            <p:nvSpPr>
              <p:cNvPr id="108" name="Freeform 99">
                <a:extLst>
                  <a:ext uri="{FF2B5EF4-FFF2-40B4-BE49-F238E27FC236}">
                    <a16:creationId xmlns:a16="http://schemas.microsoft.com/office/drawing/2014/main" id="{0FC27ED1-C993-2F4C-A1BA-B8DD47F17F06}"/>
                  </a:ext>
                </a:extLst>
              </p:cNvPr>
              <p:cNvSpPr>
                <a:spLocks noEditPoints="1"/>
              </p:cNvSpPr>
              <p:nvPr/>
            </p:nvSpPr>
            <p:spPr bwMode="auto">
              <a:xfrm>
                <a:off x="8783638" y="3568701"/>
                <a:ext cx="360363" cy="360363"/>
              </a:xfrm>
              <a:custGeom>
                <a:avLst/>
                <a:gdLst/>
                <a:ahLst/>
                <a:cxnLst>
                  <a:cxn ang="0">
                    <a:pos x="80" y="38"/>
                  </a:cxn>
                  <a:cxn ang="0">
                    <a:pos x="62" y="0"/>
                  </a:cxn>
                  <a:cxn ang="0">
                    <a:pos x="35" y="39"/>
                  </a:cxn>
                  <a:cxn ang="0">
                    <a:pos x="31" y="41"/>
                  </a:cxn>
                  <a:cxn ang="0">
                    <a:pos x="12" y="38"/>
                  </a:cxn>
                  <a:cxn ang="0">
                    <a:pos x="0" y="111"/>
                  </a:cxn>
                  <a:cxn ang="0">
                    <a:pos x="23" y="123"/>
                  </a:cxn>
                  <a:cxn ang="0">
                    <a:pos x="34" y="116"/>
                  </a:cxn>
                  <a:cxn ang="0">
                    <a:pos x="35" y="116"/>
                  </a:cxn>
                  <a:cxn ang="0">
                    <a:pos x="73" y="123"/>
                  </a:cxn>
                  <a:cxn ang="0">
                    <a:pos x="108" y="115"/>
                  </a:cxn>
                  <a:cxn ang="0">
                    <a:pos x="110" y="104"/>
                  </a:cxn>
                  <a:cxn ang="0">
                    <a:pos x="116" y="84"/>
                  </a:cxn>
                  <a:cxn ang="0">
                    <a:pos x="120" y="64"/>
                  </a:cxn>
                  <a:cxn ang="0">
                    <a:pos x="123" y="55"/>
                  </a:cxn>
                  <a:cxn ang="0">
                    <a:pos x="112" y="40"/>
                  </a:cxn>
                  <a:cxn ang="0">
                    <a:pos x="23" y="115"/>
                  </a:cxn>
                  <a:cxn ang="0">
                    <a:pos x="8" y="111"/>
                  </a:cxn>
                  <a:cxn ang="0">
                    <a:pos x="12" y="46"/>
                  </a:cxn>
                  <a:cxn ang="0">
                    <a:pos x="27" y="50"/>
                  </a:cxn>
                  <a:cxn ang="0">
                    <a:pos x="115" y="56"/>
                  </a:cxn>
                  <a:cxn ang="0">
                    <a:pos x="100" y="61"/>
                  </a:cxn>
                  <a:cxn ang="0">
                    <a:pos x="100" y="65"/>
                  </a:cxn>
                  <a:cxn ang="0">
                    <a:pos x="114" y="72"/>
                  </a:cxn>
                  <a:cxn ang="0">
                    <a:pos x="96" y="81"/>
                  </a:cxn>
                  <a:cxn ang="0">
                    <a:pos x="96" y="84"/>
                  </a:cxn>
                  <a:cxn ang="0">
                    <a:pos x="109" y="92"/>
                  </a:cxn>
                  <a:cxn ang="0">
                    <a:pos x="92" y="100"/>
                  </a:cxn>
                  <a:cxn ang="0">
                    <a:pos x="92" y="104"/>
                  </a:cxn>
                  <a:cxn ang="0">
                    <a:pos x="102" y="109"/>
                  </a:cxn>
                  <a:cxn ang="0">
                    <a:pos x="94" y="115"/>
                  </a:cxn>
                  <a:cxn ang="0">
                    <a:pos x="52" y="113"/>
                  </a:cxn>
                  <a:cxn ang="0">
                    <a:pos x="31" y="105"/>
                  </a:cxn>
                  <a:cxn ang="0">
                    <a:pos x="34" y="48"/>
                  </a:cxn>
                  <a:cxn ang="0">
                    <a:pos x="58" y="11"/>
                  </a:cxn>
                  <a:cxn ang="0">
                    <a:pos x="73" y="26"/>
                  </a:cxn>
                  <a:cxn ang="0">
                    <a:pos x="111" y="47"/>
                  </a:cxn>
                  <a:cxn ang="0">
                    <a:pos x="115" y="56"/>
                  </a:cxn>
                  <a:cxn ang="0">
                    <a:pos x="115" y="56"/>
                  </a:cxn>
                </a:cxnLst>
                <a:rect l="0" t="0" r="r" b="b"/>
                <a:pathLst>
                  <a:path w="123" h="123">
                    <a:moveTo>
                      <a:pt x="112" y="40"/>
                    </a:moveTo>
                    <a:cubicBezTo>
                      <a:pt x="107" y="39"/>
                      <a:pt x="96" y="39"/>
                      <a:pt x="80" y="38"/>
                    </a:cubicBezTo>
                    <a:cubicBezTo>
                      <a:pt x="80" y="35"/>
                      <a:pt x="81" y="32"/>
                      <a:pt x="81" y="26"/>
                    </a:cubicBezTo>
                    <a:cubicBezTo>
                      <a:pt x="81" y="12"/>
                      <a:pt x="71" y="0"/>
                      <a:pt x="62" y="0"/>
                    </a:cubicBezTo>
                    <a:cubicBezTo>
                      <a:pt x="55" y="0"/>
                      <a:pt x="50" y="5"/>
                      <a:pt x="50" y="11"/>
                    </a:cubicBezTo>
                    <a:cubicBezTo>
                      <a:pt x="50" y="19"/>
                      <a:pt x="48" y="32"/>
                      <a:pt x="35" y="39"/>
                    </a:cubicBezTo>
                    <a:cubicBezTo>
                      <a:pt x="34" y="40"/>
                      <a:pt x="31" y="41"/>
                      <a:pt x="31" y="41"/>
                    </a:cubicBezTo>
                    <a:cubicBezTo>
                      <a:pt x="31" y="41"/>
                      <a:pt x="31" y="41"/>
                      <a:pt x="31" y="41"/>
                    </a:cubicBezTo>
                    <a:cubicBezTo>
                      <a:pt x="29" y="40"/>
                      <a:pt x="26" y="38"/>
                      <a:pt x="23" y="38"/>
                    </a:cubicBezTo>
                    <a:cubicBezTo>
                      <a:pt x="12" y="38"/>
                      <a:pt x="12" y="38"/>
                      <a:pt x="12" y="38"/>
                    </a:cubicBezTo>
                    <a:cubicBezTo>
                      <a:pt x="6" y="38"/>
                      <a:pt x="0" y="43"/>
                      <a:pt x="0" y="50"/>
                    </a:cubicBezTo>
                    <a:cubicBezTo>
                      <a:pt x="0" y="111"/>
                      <a:pt x="0" y="111"/>
                      <a:pt x="0" y="111"/>
                    </a:cubicBezTo>
                    <a:cubicBezTo>
                      <a:pt x="0" y="118"/>
                      <a:pt x="6" y="123"/>
                      <a:pt x="12" y="123"/>
                    </a:cubicBezTo>
                    <a:cubicBezTo>
                      <a:pt x="23" y="123"/>
                      <a:pt x="23" y="123"/>
                      <a:pt x="23" y="123"/>
                    </a:cubicBezTo>
                    <a:cubicBezTo>
                      <a:pt x="28" y="123"/>
                      <a:pt x="32" y="120"/>
                      <a:pt x="34" y="116"/>
                    </a:cubicBezTo>
                    <a:cubicBezTo>
                      <a:pt x="34" y="116"/>
                      <a:pt x="34" y="116"/>
                      <a:pt x="34" y="116"/>
                    </a:cubicBezTo>
                    <a:cubicBezTo>
                      <a:pt x="34" y="116"/>
                      <a:pt x="34" y="116"/>
                      <a:pt x="35" y="116"/>
                    </a:cubicBezTo>
                    <a:cubicBezTo>
                      <a:pt x="35" y="116"/>
                      <a:pt x="35" y="116"/>
                      <a:pt x="35" y="116"/>
                    </a:cubicBezTo>
                    <a:cubicBezTo>
                      <a:pt x="37" y="117"/>
                      <a:pt x="41" y="118"/>
                      <a:pt x="50" y="120"/>
                    </a:cubicBezTo>
                    <a:cubicBezTo>
                      <a:pt x="52" y="121"/>
                      <a:pt x="63" y="123"/>
                      <a:pt x="73" y="123"/>
                    </a:cubicBezTo>
                    <a:cubicBezTo>
                      <a:pt x="94" y="123"/>
                      <a:pt x="94" y="123"/>
                      <a:pt x="94" y="123"/>
                    </a:cubicBezTo>
                    <a:cubicBezTo>
                      <a:pt x="101" y="123"/>
                      <a:pt x="105" y="120"/>
                      <a:pt x="108" y="115"/>
                    </a:cubicBezTo>
                    <a:cubicBezTo>
                      <a:pt x="108" y="115"/>
                      <a:pt x="109" y="114"/>
                      <a:pt x="110" y="111"/>
                    </a:cubicBezTo>
                    <a:cubicBezTo>
                      <a:pt x="110" y="109"/>
                      <a:pt x="110" y="107"/>
                      <a:pt x="110" y="104"/>
                    </a:cubicBezTo>
                    <a:cubicBezTo>
                      <a:pt x="114" y="102"/>
                      <a:pt x="115" y="97"/>
                      <a:pt x="116" y="95"/>
                    </a:cubicBezTo>
                    <a:cubicBezTo>
                      <a:pt x="118" y="90"/>
                      <a:pt x="117" y="87"/>
                      <a:pt x="116" y="84"/>
                    </a:cubicBezTo>
                    <a:cubicBezTo>
                      <a:pt x="118" y="82"/>
                      <a:pt x="120" y="79"/>
                      <a:pt x="121" y="73"/>
                    </a:cubicBezTo>
                    <a:cubicBezTo>
                      <a:pt x="122" y="70"/>
                      <a:pt x="121" y="67"/>
                      <a:pt x="120" y="64"/>
                    </a:cubicBezTo>
                    <a:cubicBezTo>
                      <a:pt x="122" y="62"/>
                      <a:pt x="123" y="59"/>
                      <a:pt x="123" y="56"/>
                    </a:cubicBezTo>
                    <a:cubicBezTo>
                      <a:pt x="123" y="55"/>
                      <a:pt x="123" y="55"/>
                      <a:pt x="123" y="55"/>
                    </a:cubicBezTo>
                    <a:cubicBezTo>
                      <a:pt x="123" y="55"/>
                      <a:pt x="123" y="54"/>
                      <a:pt x="123" y="53"/>
                    </a:cubicBezTo>
                    <a:cubicBezTo>
                      <a:pt x="123" y="48"/>
                      <a:pt x="120" y="42"/>
                      <a:pt x="112" y="40"/>
                    </a:cubicBezTo>
                    <a:close/>
                    <a:moveTo>
                      <a:pt x="27" y="111"/>
                    </a:moveTo>
                    <a:cubicBezTo>
                      <a:pt x="27" y="113"/>
                      <a:pt x="26" y="115"/>
                      <a:pt x="23" y="115"/>
                    </a:cubicBezTo>
                    <a:cubicBezTo>
                      <a:pt x="12" y="115"/>
                      <a:pt x="12" y="115"/>
                      <a:pt x="12" y="115"/>
                    </a:cubicBezTo>
                    <a:cubicBezTo>
                      <a:pt x="10" y="115"/>
                      <a:pt x="8" y="113"/>
                      <a:pt x="8" y="111"/>
                    </a:cubicBezTo>
                    <a:cubicBezTo>
                      <a:pt x="8" y="50"/>
                      <a:pt x="8" y="50"/>
                      <a:pt x="8" y="50"/>
                    </a:cubicBezTo>
                    <a:cubicBezTo>
                      <a:pt x="8" y="48"/>
                      <a:pt x="10" y="46"/>
                      <a:pt x="12" y="46"/>
                    </a:cubicBezTo>
                    <a:cubicBezTo>
                      <a:pt x="23" y="46"/>
                      <a:pt x="23" y="46"/>
                      <a:pt x="23" y="46"/>
                    </a:cubicBezTo>
                    <a:cubicBezTo>
                      <a:pt x="26" y="46"/>
                      <a:pt x="27" y="48"/>
                      <a:pt x="27" y="50"/>
                    </a:cubicBezTo>
                    <a:lnTo>
                      <a:pt x="27" y="111"/>
                    </a:lnTo>
                    <a:close/>
                    <a:moveTo>
                      <a:pt x="115" y="56"/>
                    </a:moveTo>
                    <a:cubicBezTo>
                      <a:pt x="115" y="58"/>
                      <a:pt x="114" y="61"/>
                      <a:pt x="108" y="61"/>
                    </a:cubicBezTo>
                    <a:cubicBezTo>
                      <a:pt x="100" y="61"/>
                      <a:pt x="100" y="61"/>
                      <a:pt x="100" y="61"/>
                    </a:cubicBezTo>
                    <a:cubicBezTo>
                      <a:pt x="99" y="61"/>
                      <a:pt x="98" y="62"/>
                      <a:pt x="98" y="63"/>
                    </a:cubicBezTo>
                    <a:cubicBezTo>
                      <a:pt x="98" y="64"/>
                      <a:pt x="99" y="65"/>
                      <a:pt x="100" y="65"/>
                    </a:cubicBezTo>
                    <a:cubicBezTo>
                      <a:pt x="108" y="65"/>
                      <a:pt x="108" y="65"/>
                      <a:pt x="108" y="65"/>
                    </a:cubicBezTo>
                    <a:cubicBezTo>
                      <a:pt x="113" y="65"/>
                      <a:pt x="114" y="70"/>
                      <a:pt x="114" y="72"/>
                    </a:cubicBezTo>
                    <a:cubicBezTo>
                      <a:pt x="113" y="75"/>
                      <a:pt x="112" y="81"/>
                      <a:pt x="105" y="81"/>
                    </a:cubicBezTo>
                    <a:cubicBezTo>
                      <a:pt x="96" y="81"/>
                      <a:pt x="96" y="81"/>
                      <a:pt x="96" y="81"/>
                    </a:cubicBezTo>
                    <a:cubicBezTo>
                      <a:pt x="95" y="81"/>
                      <a:pt x="94" y="81"/>
                      <a:pt x="94" y="82"/>
                    </a:cubicBezTo>
                    <a:cubicBezTo>
                      <a:pt x="94" y="83"/>
                      <a:pt x="95" y="84"/>
                      <a:pt x="96" y="84"/>
                    </a:cubicBezTo>
                    <a:cubicBezTo>
                      <a:pt x="104" y="84"/>
                      <a:pt x="104" y="84"/>
                      <a:pt x="104" y="84"/>
                    </a:cubicBezTo>
                    <a:cubicBezTo>
                      <a:pt x="110" y="84"/>
                      <a:pt x="110" y="89"/>
                      <a:pt x="109" y="92"/>
                    </a:cubicBezTo>
                    <a:cubicBezTo>
                      <a:pt x="108" y="96"/>
                      <a:pt x="107" y="100"/>
                      <a:pt x="99" y="100"/>
                    </a:cubicBezTo>
                    <a:cubicBezTo>
                      <a:pt x="92" y="100"/>
                      <a:pt x="92" y="100"/>
                      <a:pt x="92" y="100"/>
                    </a:cubicBezTo>
                    <a:cubicBezTo>
                      <a:pt x="91" y="100"/>
                      <a:pt x="90" y="101"/>
                      <a:pt x="90" y="102"/>
                    </a:cubicBezTo>
                    <a:cubicBezTo>
                      <a:pt x="90" y="103"/>
                      <a:pt x="91" y="104"/>
                      <a:pt x="92" y="104"/>
                    </a:cubicBezTo>
                    <a:cubicBezTo>
                      <a:pt x="98" y="104"/>
                      <a:pt x="98" y="104"/>
                      <a:pt x="98" y="104"/>
                    </a:cubicBezTo>
                    <a:cubicBezTo>
                      <a:pt x="103" y="104"/>
                      <a:pt x="103" y="108"/>
                      <a:pt x="102" y="109"/>
                    </a:cubicBezTo>
                    <a:cubicBezTo>
                      <a:pt x="102" y="110"/>
                      <a:pt x="101" y="112"/>
                      <a:pt x="101" y="112"/>
                    </a:cubicBezTo>
                    <a:cubicBezTo>
                      <a:pt x="100" y="114"/>
                      <a:pt x="98" y="115"/>
                      <a:pt x="94" y="115"/>
                    </a:cubicBezTo>
                    <a:cubicBezTo>
                      <a:pt x="73" y="115"/>
                      <a:pt x="73" y="115"/>
                      <a:pt x="73" y="115"/>
                    </a:cubicBezTo>
                    <a:cubicBezTo>
                      <a:pt x="63" y="115"/>
                      <a:pt x="52" y="113"/>
                      <a:pt x="52" y="113"/>
                    </a:cubicBezTo>
                    <a:cubicBezTo>
                      <a:pt x="36" y="109"/>
                      <a:pt x="35" y="109"/>
                      <a:pt x="34" y="108"/>
                    </a:cubicBezTo>
                    <a:cubicBezTo>
                      <a:pt x="34" y="108"/>
                      <a:pt x="31" y="108"/>
                      <a:pt x="31" y="105"/>
                    </a:cubicBezTo>
                    <a:cubicBezTo>
                      <a:pt x="31" y="52"/>
                      <a:pt x="31" y="52"/>
                      <a:pt x="31" y="52"/>
                    </a:cubicBezTo>
                    <a:cubicBezTo>
                      <a:pt x="31" y="50"/>
                      <a:pt x="32" y="49"/>
                      <a:pt x="34" y="48"/>
                    </a:cubicBezTo>
                    <a:cubicBezTo>
                      <a:pt x="34" y="48"/>
                      <a:pt x="35" y="48"/>
                      <a:pt x="35" y="48"/>
                    </a:cubicBezTo>
                    <a:cubicBezTo>
                      <a:pt x="52" y="40"/>
                      <a:pt x="58" y="25"/>
                      <a:pt x="58" y="11"/>
                    </a:cubicBezTo>
                    <a:cubicBezTo>
                      <a:pt x="58" y="10"/>
                      <a:pt x="59" y="8"/>
                      <a:pt x="62" y="8"/>
                    </a:cubicBezTo>
                    <a:cubicBezTo>
                      <a:pt x="66" y="8"/>
                      <a:pt x="73" y="16"/>
                      <a:pt x="73" y="26"/>
                    </a:cubicBezTo>
                    <a:cubicBezTo>
                      <a:pt x="73" y="35"/>
                      <a:pt x="73" y="37"/>
                      <a:pt x="69" y="46"/>
                    </a:cubicBezTo>
                    <a:cubicBezTo>
                      <a:pt x="108" y="46"/>
                      <a:pt x="107" y="47"/>
                      <a:pt x="111" y="47"/>
                    </a:cubicBezTo>
                    <a:cubicBezTo>
                      <a:pt x="115" y="49"/>
                      <a:pt x="115" y="52"/>
                      <a:pt x="115" y="53"/>
                    </a:cubicBezTo>
                    <a:cubicBezTo>
                      <a:pt x="115" y="55"/>
                      <a:pt x="115" y="54"/>
                      <a:pt x="115" y="56"/>
                    </a:cubicBezTo>
                    <a:close/>
                    <a:moveTo>
                      <a:pt x="115" y="56"/>
                    </a:moveTo>
                    <a:cubicBezTo>
                      <a:pt x="115" y="56"/>
                      <a:pt x="115" y="56"/>
                      <a:pt x="115" y="56"/>
                    </a:cubicBezTo>
                  </a:path>
                </a:pathLst>
              </a:custGeom>
              <a:grpFill/>
              <a:ln w="0">
                <a:solidFill>
                  <a:schemeClr val="tx1">
                    <a:lumMod val="95000"/>
                    <a:lumOff val="5000"/>
                    <a:alpha val="44000"/>
                  </a:schemeClr>
                </a:solidFill>
                <a:round/>
                <a:headEnd/>
                <a:tailEnd/>
              </a:ln>
            </p:spPr>
            <p:txBody>
              <a:bodyPr/>
              <a:lstStyle/>
              <a:p>
                <a:pPr fontAlgn="auto">
                  <a:spcBef>
                    <a:spcPts val="0"/>
                  </a:spcBef>
                  <a:spcAft>
                    <a:spcPts val="0"/>
                  </a:spcAft>
                  <a:defRPr/>
                </a:pPr>
                <a:endParaRPr lang="en-US">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109" name="Freeform 100">
                <a:extLst>
                  <a:ext uri="{FF2B5EF4-FFF2-40B4-BE49-F238E27FC236}">
                    <a16:creationId xmlns:a16="http://schemas.microsoft.com/office/drawing/2014/main" id="{D4A6907C-E790-CB44-9F5A-3A985B6013ED}"/>
                  </a:ext>
                </a:extLst>
              </p:cNvPr>
              <p:cNvSpPr>
                <a:spLocks noEditPoints="1"/>
              </p:cNvSpPr>
              <p:nvPr/>
            </p:nvSpPr>
            <p:spPr bwMode="auto">
              <a:xfrm>
                <a:off x="8818563" y="3862388"/>
                <a:ext cx="33338" cy="31750"/>
              </a:xfrm>
              <a:custGeom>
                <a:avLst/>
                <a:gdLst/>
                <a:ahLst/>
                <a:cxnLst>
                  <a:cxn ang="0">
                    <a:pos x="6" y="0"/>
                  </a:cxn>
                  <a:cxn ang="0">
                    <a:pos x="0" y="5"/>
                  </a:cxn>
                  <a:cxn ang="0">
                    <a:pos x="6" y="11"/>
                  </a:cxn>
                  <a:cxn ang="0">
                    <a:pos x="11" y="5"/>
                  </a:cxn>
                  <a:cxn ang="0">
                    <a:pos x="6" y="0"/>
                  </a:cxn>
                  <a:cxn ang="0">
                    <a:pos x="6" y="7"/>
                  </a:cxn>
                  <a:cxn ang="0">
                    <a:pos x="4" y="5"/>
                  </a:cxn>
                  <a:cxn ang="0">
                    <a:pos x="6" y="4"/>
                  </a:cxn>
                  <a:cxn ang="0">
                    <a:pos x="8" y="5"/>
                  </a:cxn>
                  <a:cxn ang="0">
                    <a:pos x="6" y="7"/>
                  </a:cxn>
                  <a:cxn ang="0">
                    <a:pos x="6" y="7"/>
                  </a:cxn>
                  <a:cxn ang="0">
                    <a:pos x="6" y="7"/>
                  </a:cxn>
                </a:cxnLst>
                <a:rect l="0" t="0" r="r" b="b"/>
                <a:pathLst>
                  <a:path w="11" h="11">
                    <a:moveTo>
                      <a:pt x="6" y="0"/>
                    </a:moveTo>
                    <a:cubicBezTo>
                      <a:pt x="2" y="0"/>
                      <a:pt x="0" y="2"/>
                      <a:pt x="0" y="5"/>
                    </a:cubicBezTo>
                    <a:cubicBezTo>
                      <a:pt x="0" y="9"/>
                      <a:pt x="2" y="11"/>
                      <a:pt x="6" y="11"/>
                    </a:cubicBezTo>
                    <a:cubicBezTo>
                      <a:pt x="9" y="11"/>
                      <a:pt x="11" y="9"/>
                      <a:pt x="11" y="5"/>
                    </a:cubicBezTo>
                    <a:cubicBezTo>
                      <a:pt x="11" y="2"/>
                      <a:pt x="9" y="0"/>
                      <a:pt x="6" y="0"/>
                    </a:cubicBezTo>
                    <a:close/>
                    <a:moveTo>
                      <a:pt x="6" y="7"/>
                    </a:moveTo>
                    <a:cubicBezTo>
                      <a:pt x="5" y="7"/>
                      <a:pt x="4" y="6"/>
                      <a:pt x="4" y="5"/>
                    </a:cubicBezTo>
                    <a:cubicBezTo>
                      <a:pt x="4" y="4"/>
                      <a:pt x="5" y="4"/>
                      <a:pt x="6" y="4"/>
                    </a:cubicBezTo>
                    <a:cubicBezTo>
                      <a:pt x="7" y="4"/>
                      <a:pt x="8" y="4"/>
                      <a:pt x="8" y="5"/>
                    </a:cubicBezTo>
                    <a:cubicBezTo>
                      <a:pt x="8" y="6"/>
                      <a:pt x="7" y="7"/>
                      <a:pt x="6" y="7"/>
                    </a:cubicBezTo>
                    <a:close/>
                    <a:moveTo>
                      <a:pt x="6" y="7"/>
                    </a:moveTo>
                    <a:cubicBezTo>
                      <a:pt x="6" y="7"/>
                      <a:pt x="6" y="7"/>
                      <a:pt x="6" y="7"/>
                    </a:cubicBezTo>
                  </a:path>
                </a:pathLst>
              </a:custGeom>
              <a:grpFill/>
              <a:ln w="0">
                <a:solidFill>
                  <a:schemeClr val="tx1">
                    <a:lumMod val="95000"/>
                    <a:lumOff val="5000"/>
                    <a:alpha val="44000"/>
                  </a:schemeClr>
                </a:solidFill>
                <a:round/>
                <a:headEnd/>
                <a:tailEnd/>
              </a:ln>
            </p:spPr>
            <p:txBody>
              <a:bodyPr/>
              <a:lstStyle/>
              <a:p>
                <a:pPr fontAlgn="auto">
                  <a:spcBef>
                    <a:spcPts val="0"/>
                  </a:spcBef>
                  <a:spcAft>
                    <a:spcPts val="0"/>
                  </a:spcAft>
                  <a:defRPr/>
                </a:pPr>
                <a:endParaRPr lang="en-US">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grpSp>
      <p:grpSp>
        <p:nvGrpSpPr>
          <p:cNvPr id="12" name="그룹 11">
            <a:extLst>
              <a:ext uri="{FF2B5EF4-FFF2-40B4-BE49-F238E27FC236}">
                <a16:creationId xmlns:a16="http://schemas.microsoft.com/office/drawing/2014/main" id="{8B39B0CA-7662-2BCC-3B53-47E1DDB3B3DF}"/>
              </a:ext>
            </a:extLst>
          </p:cNvPr>
          <p:cNvGrpSpPr/>
          <p:nvPr/>
        </p:nvGrpSpPr>
        <p:grpSpPr>
          <a:xfrm>
            <a:off x="426720" y="18150162"/>
            <a:ext cx="13465495" cy="1299077"/>
            <a:chOff x="16018622" y="6428296"/>
            <a:chExt cx="13465495" cy="1299077"/>
          </a:xfrm>
        </p:grpSpPr>
        <p:grpSp>
          <p:nvGrpSpPr>
            <p:cNvPr id="61" name="그룹 60"/>
            <p:cNvGrpSpPr/>
            <p:nvPr/>
          </p:nvGrpSpPr>
          <p:grpSpPr>
            <a:xfrm>
              <a:off x="16018622" y="6428296"/>
              <a:ext cx="13465495" cy="1299077"/>
              <a:chOff x="1170435" y="9375993"/>
              <a:chExt cx="13465495" cy="1299077"/>
            </a:xfrm>
          </p:grpSpPr>
          <p:sp>
            <p:nvSpPr>
              <p:cNvPr id="78" name="타원 77"/>
              <p:cNvSpPr/>
              <p:nvPr/>
            </p:nvSpPr>
            <p:spPr>
              <a:xfrm>
                <a:off x="1170435" y="9378926"/>
                <a:ext cx="1296144" cy="1296144"/>
              </a:xfrm>
              <a:prstGeom prst="ellipse">
                <a:avLst/>
              </a:prstGeom>
              <a:solidFill>
                <a:srgbClr val="B5B6B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sp>
            <p:nvSpPr>
              <p:cNvPr id="82" name="모서리가 둥근 직사각형 81"/>
              <p:cNvSpPr/>
              <p:nvPr/>
            </p:nvSpPr>
            <p:spPr>
              <a:xfrm>
                <a:off x="2466579" y="9375993"/>
                <a:ext cx="12169351" cy="1244723"/>
              </a:xfrm>
              <a:prstGeom prst="roundRect">
                <a:avLst>
                  <a:gd name="adj" fmla="val 50000"/>
                </a:avLst>
              </a:prstGeom>
              <a:solidFill>
                <a:srgbClr val="B5B6B6"/>
              </a:solidFill>
              <a:ln>
                <a:noFill/>
              </a:ln>
            </p:spPr>
            <p:style>
              <a:lnRef idx="2">
                <a:schemeClr val="accent1">
                  <a:shade val="50000"/>
                </a:schemeClr>
              </a:lnRef>
              <a:fillRef idx="1">
                <a:schemeClr val="accent1"/>
              </a:fillRef>
              <a:effectRef idx="0">
                <a:schemeClr val="accent1"/>
              </a:effectRef>
              <a:fontRef idx="minor">
                <a:schemeClr val="lt1"/>
              </a:fontRef>
            </p:style>
            <p:txBody>
              <a:bodyPr lIns="398612" tIns="199304" rIns="398612" bIns="199304" anchor="ctr"/>
              <a:lstStyle/>
              <a:p>
                <a:pPr lvl="0">
                  <a:defRPr/>
                </a:pPr>
                <a:r>
                  <a:rPr lang="en-US" altLang="ko-KR" sz="4000" dirty="0">
                    <a:solidFill>
                      <a:schemeClr val="tx1">
                        <a:lumMod val="75000"/>
                        <a:lumOff val="2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rPr>
                  <a:t>Results of the Project</a:t>
                </a:r>
                <a:endParaRPr lang="ko-KR" altLang="en-US" sz="4000" dirty="0">
                  <a:solidFill>
                    <a:schemeClr val="tx1">
                      <a:lumMod val="75000"/>
                      <a:lumOff val="25000"/>
                    </a:schemeClr>
                  </a:solidFill>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sp>
          <p:nvSpPr>
            <p:cNvPr id="110" name="Freeform 498"/>
            <p:cNvSpPr>
              <a:spLocks noEditPoints="1"/>
            </p:cNvSpPr>
            <p:nvPr/>
          </p:nvSpPr>
          <p:spPr bwMode="auto">
            <a:xfrm>
              <a:off x="16302290" y="6710246"/>
              <a:ext cx="728807" cy="699671"/>
            </a:xfrm>
            <a:custGeom>
              <a:avLst/>
              <a:gdLst>
                <a:gd name="T0" fmla="*/ 140 w 176"/>
                <a:gd name="T1" fmla="*/ 72 h 176"/>
                <a:gd name="T2" fmla="*/ 140 w 176"/>
                <a:gd name="T3" fmla="*/ 64 h 176"/>
                <a:gd name="T4" fmla="*/ 96 w 176"/>
                <a:gd name="T5" fmla="*/ 68 h 176"/>
                <a:gd name="T6" fmla="*/ 100 w 176"/>
                <a:gd name="T7" fmla="*/ 56 h 176"/>
                <a:gd name="T8" fmla="*/ 128 w 176"/>
                <a:gd name="T9" fmla="*/ 52 h 176"/>
                <a:gd name="T10" fmla="*/ 100 w 176"/>
                <a:gd name="T11" fmla="*/ 48 h 176"/>
                <a:gd name="T12" fmla="*/ 100 w 176"/>
                <a:gd name="T13" fmla="*/ 56 h 176"/>
                <a:gd name="T14" fmla="*/ 116 w 176"/>
                <a:gd name="T15" fmla="*/ 88 h 176"/>
                <a:gd name="T16" fmla="*/ 116 w 176"/>
                <a:gd name="T17" fmla="*/ 80 h 176"/>
                <a:gd name="T18" fmla="*/ 96 w 176"/>
                <a:gd name="T19" fmla="*/ 84 h 176"/>
                <a:gd name="T20" fmla="*/ 40 w 176"/>
                <a:gd name="T21" fmla="*/ 104 h 176"/>
                <a:gd name="T22" fmla="*/ 80 w 176"/>
                <a:gd name="T23" fmla="*/ 96 h 176"/>
                <a:gd name="T24" fmla="*/ 72 w 176"/>
                <a:gd name="T25" fmla="*/ 48 h 176"/>
                <a:gd name="T26" fmla="*/ 32 w 176"/>
                <a:gd name="T27" fmla="*/ 56 h 176"/>
                <a:gd name="T28" fmla="*/ 40 w 176"/>
                <a:gd name="T29" fmla="*/ 104 h 176"/>
                <a:gd name="T30" fmla="*/ 72 w 176"/>
                <a:gd name="T31" fmla="*/ 56 h 176"/>
                <a:gd name="T32" fmla="*/ 40 w 176"/>
                <a:gd name="T33" fmla="*/ 96 h 176"/>
                <a:gd name="T34" fmla="*/ 100 w 176"/>
                <a:gd name="T35" fmla="*/ 104 h 176"/>
                <a:gd name="T36" fmla="*/ 144 w 176"/>
                <a:gd name="T37" fmla="*/ 100 h 176"/>
                <a:gd name="T38" fmla="*/ 100 w 176"/>
                <a:gd name="T39" fmla="*/ 96 h 176"/>
                <a:gd name="T40" fmla="*/ 100 w 176"/>
                <a:gd name="T41" fmla="*/ 104 h 176"/>
                <a:gd name="T42" fmla="*/ 96 w 176"/>
                <a:gd name="T43" fmla="*/ 8 h 176"/>
                <a:gd name="T44" fmla="*/ 80 w 176"/>
                <a:gd name="T45" fmla="*/ 8 h 176"/>
                <a:gd name="T46" fmla="*/ 0 w 176"/>
                <a:gd name="T47" fmla="*/ 16 h 176"/>
                <a:gd name="T48" fmla="*/ 8 w 176"/>
                <a:gd name="T49" fmla="*/ 32 h 176"/>
                <a:gd name="T50" fmla="*/ 16 w 176"/>
                <a:gd name="T51" fmla="*/ 136 h 176"/>
                <a:gd name="T52" fmla="*/ 84 w 176"/>
                <a:gd name="T53" fmla="*/ 146 h 176"/>
                <a:gd name="T54" fmla="*/ 60 w 176"/>
                <a:gd name="T55" fmla="*/ 172 h 176"/>
                <a:gd name="T56" fmla="*/ 67 w 176"/>
                <a:gd name="T57" fmla="*/ 175 h 176"/>
                <a:gd name="T58" fmla="*/ 109 w 176"/>
                <a:gd name="T59" fmla="*/ 175 h 176"/>
                <a:gd name="T60" fmla="*/ 116 w 176"/>
                <a:gd name="T61" fmla="*/ 172 h 176"/>
                <a:gd name="T62" fmla="*/ 92 w 176"/>
                <a:gd name="T63" fmla="*/ 146 h 176"/>
                <a:gd name="T64" fmla="*/ 160 w 176"/>
                <a:gd name="T65" fmla="*/ 136 h 176"/>
                <a:gd name="T66" fmla="*/ 168 w 176"/>
                <a:gd name="T67" fmla="*/ 32 h 176"/>
                <a:gd name="T68" fmla="*/ 176 w 176"/>
                <a:gd name="T69" fmla="*/ 16 h 176"/>
                <a:gd name="T70" fmla="*/ 160 w 176"/>
                <a:gd name="T71" fmla="*/ 128 h 176"/>
                <a:gd name="T72" fmla="*/ 16 w 176"/>
                <a:gd name="T73" fmla="*/ 32 h 176"/>
                <a:gd name="T74" fmla="*/ 160 w 176"/>
                <a:gd name="T75" fmla="*/ 128 h 176"/>
                <a:gd name="T76" fmla="*/ 8 w 176"/>
                <a:gd name="T77" fmla="*/ 24 h 176"/>
                <a:gd name="T78" fmla="*/ 168 w 176"/>
                <a:gd name="T79" fmla="*/ 16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76" h="176">
                  <a:moveTo>
                    <a:pt x="100" y="72"/>
                  </a:moveTo>
                  <a:cubicBezTo>
                    <a:pt x="140" y="72"/>
                    <a:pt x="140" y="72"/>
                    <a:pt x="140" y="72"/>
                  </a:cubicBezTo>
                  <a:cubicBezTo>
                    <a:pt x="142" y="72"/>
                    <a:pt x="144" y="70"/>
                    <a:pt x="144" y="68"/>
                  </a:cubicBezTo>
                  <a:cubicBezTo>
                    <a:pt x="144" y="66"/>
                    <a:pt x="142" y="64"/>
                    <a:pt x="140" y="64"/>
                  </a:cubicBezTo>
                  <a:cubicBezTo>
                    <a:pt x="100" y="64"/>
                    <a:pt x="100" y="64"/>
                    <a:pt x="100" y="64"/>
                  </a:cubicBezTo>
                  <a:cubicBezTo>
                    <a:pt x="98" y="64"/>
                    <a:pt x="96" y="66"/>
                    <a:pt x="96" y="68"/>
                  </a:cubicBezTo>
                  <a:cubicBezTo>
                    <a:pt x="96" y="70"/>
                    <a:pt x="98" y="72"/>
                    <a:pt x="100" y="72"/>
                  </a:cubicBezTo>
                  <a:moveTo>
                    <a:pt x="100" y="56"/>
                  </a:moveTo>
                  <a:cubicBezTo>
                    <a:pt x="124" y="56"/>
                    <a:pt x="124" y="56"/>
                    <a:pt x="124" y="56"/>
                  </a:cubicBezTo>
                  <a:cubicBezTo>
                    <a:pt x="126" y="56"/>
                    <a:pt x="128" y="54"/>
                    <a:pt x="128" y="52"/>
                  </a:cubicBezTo>
                  <a:cubicBezTo>
                    <a:pt x="128" y="50"/>
                    <a:pt x="126" y="48"/>
                    <a:pt x="124" y="48"/>
                  </a:cubicBezTo>
                  <a:cubicBezTo>
                    <a:pt x="100" y="48"/>
                    <a:pt x="100" y="48"/>
                    <a:pt x="100" y="48"/>
                  </a:cubicBezTo>
                  <a:cubicBezTo>
                    <a:pt x="98" y="48"/>
                    <a:pt x="96" y="50"/>
                    <a:pt x="96" y="52"/>
                  </a:cubicBezTo>
                  <a:cubicBezTo>
                    <a:pt x="96" y="54"/>
                    <a:pt x="98" y="56"/>
                    <a:pt x="100" y="56"/>
                  </a:cubicBezTo>
                  <a:moveTo>
                    <a:pt x="100" y="88"/>
                  </a:moveTo>
                  <a:cubicBezTo>
                    <a:pt x="116" y="88"/>
                    <a:pt x="116" y="88"/>
                    <a:pt x="116" y="88"/>
                  </a:cubicBezTo>
                  <a:cubicBezTo>
                    <a:pt x="118" y="88"/>
                    <a:pt x="120" y="86"/>
                    <a:pt x="120" y="84"/>
                  </a:cubicBezTo>
                  <a:cubicBezTo>
                    <a:pt x="120" y="82"/>
                    <a:pt x="118" y="80"/>
                    <a:pt x="116" y="80"/>
                  </a:cubicBezTo>
                  <a:cubicBezTo>
                    <a:pt x="100" y="80"/>
                    <a:pt x="100" y="80"/>
                    <a:pt x="100" y="80"/>
                  </a:cubicBezTo>
                  <a:cubicBezTo>
                    <a:pt x="98" y="80"/>
                    <a:pt x="96" y="82"/>
                    <a:pt x="96" y="84"/>
                  </a:cubicBezTo>
                  <a:cubicBezTo>
                    <a:pt x="96" y="86"/>
                    <a:pt x="98" y="88"/>
                    <a:pt x="100" y="88"/>
                  </a:cubicBezTo>
                  <a:moveTo>
                    <a:pt x="40" y="104"/>
                  </a:moveTo>
                  <a:cubicBezTo>
                    <a:pt x="72" y="104"/>
                    <a:pt x="72" y="104"/>
                    <a:pt x="72" y="104"/>
                  </a:cubicBezTo>
                  <a:cubicBezTo>
                    <a:pt x="76" y="104"/>
                    <a:pt x="80" y="100"/>
                    <a:pt x="80" y="96"/>
                  </a:cubicBezTo>
                  <a:cubicBezTo>
                    <a:pt x="80" y="56"/>
                    <a:pt x="80" y="56"/>
                    <a:pt x="80" y="56"/>
                  </a:cubicBezTo>
                  <a:cubicBezTo>
                    <a:pt x="80" y="52"/>
                    <a:pt x="76" y="48"/>
                    <a:pt x="72" y="48"/>
                  </a:cubicBezTo>
                  <a:cubicBezTo>
                    <a:pt x="40" y="48"/>
                    <a:pt x="40" y="48"/>
                    <a:pt x="40" y="48"/>
                  </a:cubicBezTo>
                  <a:cubicBezTo>
                    <a:pt x="36" y="48"/>
                    <a:pt x="32" y="52"/>
                    <a:pt x="32" y="56"/>
                  </a:cubicBezTo>
                  <a:cubicBezTo>
                    <a:pt x="32" y="96"/>
                    <a:pt x="32" y="96"/>
                    <a:pt x="32" y="96"/>
                  </a:cubicBezTo>
                  <a:cubicBezTo>
                    <a:pt x="32" y="100"/>
                    <a:pt x="36" y="104"/>
                    <a:pt x="40" y="104"/>
                  </a:cubicBezTo>
                  <a:moveTo>
                    <a:pt x="40" y="56"/>
                  </a:moveTo>
                  <a:cubicBezTo>
                    <a:pt x="72" y="56"/>
                    <a:pt x="72" y="56"/>
                    <a:pt x="72" y="56"/>
                  </a:cubicBezTo>
                  <a:cubicBezTo>
                    <a:pt x="72" y="96"/>
                    <a:pt x="72" y="96"/>
                    <a:pt x="72" y="96"/>
                  </a:cubicBezTo>
                  <a:cubicBezTo>
                    <a:pt x="40" y="96"/>
                    <a:pt x="40" y="96"/>
                    <a:pt x="40" y="96"/>
                  </a:cubicBezTo>
                  <a:lnTo>
                    <a:pt x="40" y="56"/>
                  </a:lnTo>
                  <a:close/>
                  <a:moveTo>
                    <a:pt x="100" y="104"/>
                  </a:moveTo>
                  <a:cubicBezTo>
                    <a:pt x="140" y="104"/>
                    <a:pt x="140" y="104"/>
                    <a:pt x="140" y="104"/>
                  </a:cubicBezTo>
                  <a:cubicBezTo>
                    <a:pt x="142" y="104"/>
                    <a:pt x="144" y="102"/>
                    <a:pt x="144" y="100"/>
                  </a:cubicBezTo>
                  <a:cubicBezTo>
                    <a:pt x="144" y="98"/>
                    <a:pt x="142" y="96"/>
                    <a:pt x="140" y="96"/>
                  </a:cubicBezTo>
                  <a:cubicBezTo>
                    <a:pt x="100" y="96"/>
                    <a:pt x="100" y="96"/>
                    <a:pt x="100" y="96"/>
                  </a:cubicBezTo>
                  <a:cubicBezTo>
                    <a:pt x="98" y="96"/>
                    <a:pt x="96" y="98"/>
                    <a:pt x="96" y="100"/>
                  </a:cubicBezTo>
                  <a:cubicBezTo>
                    <a:pt x="96" y="102"/>
                    <a:pt x="98" y="104"/>
                    <a:pt x="100" y="104"/>
                  </a:cubicBezTo>
                  <a:moveTo>
                    <a:pt x="168" y="8"/>
                  </a:moveTo>
                  <a:cubicBezTo>
                    <a:pt x="96" y="8"/>
                    <a:pt x="96" y="8"/>
                    <a:pt x="96" y="8"/>
                  </a:cubicBezTo>
                  <a:cubicBezTo>
                    <a:pt x="96" y="4"/>
                    <a:pt x="92" y="0"/>
                    <a:pt x="88" y="0"/>
                  </a:cubicBezTo>
                  <a:cubicBezTo>
                    <a:pt x="84" y="0"/>
                    <a:pt x="80" y="4"/>
                    <a:pt x="80" y="8"/>
                  </a:cubicBezTo>
                  <a:cubicBezTo>
                    <a:pt x="8" y="8"/>
                    <a:pt x="8" y="8"/>
                    <a:pt x="8" y="8"/>
                  </a:cubicBezTo>
                  <a:cubicBezTo>
                    <a:pt x="4" y="8"/>
                    <a:pt x="0" y="12"/>
                    <a:pt x="0" y="16"/>
                  </a:cubicBezTo>
                  <a:cubicBezTo>
                    <a:pt x="0" y="24"/>
                    <a:pt x="0" y="24"/>
                    <a:pt x="0" y="24"/>
                  </a:cubicBezTo>
                  <a:cubicBezTo>
                    <a:pt x="0" y="28"/>
                    <a:pt x="4" y="32"/>
                    <a:pt x="8" y="32"/>
                  </a:cubicBezTo>
                  <a:cubicBezTo>
                    <a:pt x="8" y="128"/>
                    <a:pt x="8" y="128"/>
                    <a:pt x="8" y="128"/>
                  </a:cubicBezTo>
                  <a:cubicBezTo>
                    <a:pt x="8" y="132"/>
                    <a:pt x="12" y="136"/>
                    <a:pt x="16" y="136"/>
                  </a:cubicBezTo>
                  <a:cubicBezTo>
                    <a:pt x="84" y="136"/>
                    <a:pt x="84" y="136"/>
                    <a:pt x="84" y="136"/>
                  </a:cubicBezTo>
                  <a:cubicBezTo>
                    <a:pt x="84" y="146"/>
                    <a:pt x="84" y="146"/>
                    <a:pt x="84" y="146"/>
                  </a:cubicBezTo>
                  <a:cubicBezTo>
                    <a:pt x="61" y="169"/>
                    <a:pt x="61" y="169"/>
                    <a:pt x="61" y="169"/>
                  </a:cubicBezTo>
                  <a:cubicBezTo>
                    <a:pt x="60" y="170"/>
                    <a:pt x="60" y="171"/>
                    <a:pt x="60" y="172"/>
                  </a:cubicBezTo>
                  <a:cubicBezTo>
                    <a:pt x="60" y="174"/>
                    <a:pt x="62" y="176"/>
                    <a:pt x="64" y="176"/>
                  </a:cubicBezTo>
                  <a:cubicBezTo>
                    <a:pt x="65" y="176"/>
                    <a:pt x="66" y="176"/>
                    <a:pt x="67" y="175"/>
                  </a:cubicBezTo>
                  <a:cubicBezTo>
                    <a:pt x="88" y="154"/>
                    <a:pt x="88" y="154"/>
                    <a:pt x="88" y="154"/>
                  </a:cubicBezTo>
                  <a:cubicBezTo>
                    <a:pt x="109" y="175"/>
                    <a:pt x="109" y="175"/>
                    <a:pt x="109" y="175"/>
                  </a:cubicBezTo>
                  <a:cubicBezTo>
                    <a:pt x="110" y="176"/>
                    <a:pt x="111" y="176"/>
                    <a:pt x="112" y="176"/>
                  </a:cubicBezTo>
                  <a:cubicBezTo>
                    <a:pt x="114" y="176"/>
                    <a:pt x="116" y="174"/>
                    <a:pt x="116" y="172"/>
                  </a:cubicBezTo>
                  <a:cubicBezTo>
                    <a:pt x="116" y="171"/>
                    <a:pt x="116" y="170"/>
                    <a:pt x="115" y="169"/>
                  </a:cubicBezTo>
                  <a:cubicBezTo>
                    <a:pt x="92" y="146"/>
                    <a:pt x="92" y="146"/>
                    <a:pt x="92" y="146"/>
                  </a:cubicBezTo>
                  <a:cubicBezTo>
                    <a:pt x="92" y="136"/>
                    <a:pt x="92" y="136"/>
                    <a:pt x="92" y="136"/>
                  </a:cubicBezTo>
                  <a:cubicBezTo>
                    <a:pt x="160" y="136"/>
                    <a:pt x="160" y="136"/>
                    <a:pt x="160" y="136"/>
                  </a:cubicBezTo>
                  <a:cubicBezTo>
                    <a:pt x="164" y="136"/>
                    <a:pt x="168" y="132"/>
                    <a:pt x="168" y="128"/>
                  </a:cubicBezTo>
                  <a:cubicBezTo>
                    <a:pt x="168" y="32"/>
                    <a:pt x="168" y="32"/>
                    <a:pt x="168" y="32"/>
                  </a:cubicBezTo>
                  <a:cubicBezTo>
                    <a:pt x="172" y="32"/>
                    <a:pt x="176" y="28"/>
                    <a:pt x="176" y="24"/>
                  </a:cubicBezTo>
                  <a:cubicBezTo>
                    <a:pt x="176" y="16"/>
                    <a:pt x="176" y="16"/>
                    <a:pt x="176" y="16"/>
                  </a:cubicBezTo>
                  <a:cubicBezTo>
                    <a:pt x="176" y="12"/>
                    <a:pt x="172" y="8"/>
                    <a:pt x="168" y="8"/>
                  </a:cubicBezTo>
                  <a:moveTo>
                    <a:pt x="160" y="128"/>
                  </a:moveTo>
                  <a:cubicBezTo>
                    <a:pt x="16" y="128"/>
                    <a:pt x="16" y="128"/>
                    <a:pt x="16" y="128"/>
                  </a:cubicBezTo>
                  <a:cubicBezTo>
                    <a:pt x="16" y="32"/>
                    <a:pt x="16" y="32"/>
                    <a:pt x="16" y="32"/>
                  </a:cubicBezTo>
                  <a:cubicBezTo>
                    <a:pt x="160" y="32"/>
                    <a:pt x="160" y="32"/>
                    <a:pt x="160" y="32"/>
                  </a:cubicBezTo>
                  <a:lnTo>
                    <a:pt x="160" y="128"/>
                  </a:lnTo>
                  <a:close/>
                  <a:moveTo>
                    <a:pt x="168" y="24"/>
                  </a:moveTo>
                  <a:cubicBezTo>
                    <a:pt x="8" y="24"/>
                    <a:pt x="8" y="24"/>
                    <a:pt x="8" y="24"/>
                  </a:cubicBezTo>
                  <a:cubicBezTo>
                    <a:pt x="8" y="16"/>
                    <a:pt x="8" y="16"/>
                    <a:pt x="8" y="16"/>
                  </a:cubicBezTo>
                  <a:cubicBezTo>
                    <a:pt x="168" y="16"/>
                    <a:pt x="168" y="16"/>
                    <a:pt x="168" y="16"/>
                  </a:cubicBezTo>
                  <a:lnTo>
                    <a:pt x="168" y="24"/>
                  </a:lnTo>
                  <a:close/>
                </a:path>
              </a:pathLst>
            </a:custGeom>
            <a:solidFill>
              <a:schemeClr val="tx1">
                <a:lumMod val="75000"/>
                <a:lumOff val="25000"/>
              </a:schemeClr>
            </a:solidFill>
            <a:ln w="0">
              <a:solidFill>
                <a:schemeClr val="tx1">
                  <a:lumMod val="75000"/>
                  <a:lumOff val="25000"/>
                </a:schemeClr>
              </a:solidFill>
            </a:ln>
          </p:spPr>
          <p:txBody>
            <a:bodyPr vert="horz" wrap="square" lIns="91440" tIns="45720" rIns="91440" bIns="45720" numCol="1" anchor="t" anchorCtr="0" compatLnSpc="1">
              <a:prstTxWarp prst="textNoShape">
                <a:avLst/>
              </a:prstTxWarp>
            </a:bodyPr>
            <a:lstStyle/>
            <a:p>
              <a:endParaRPr lang="en-US">
                <a:latin typeface="KoPubWorld돋움체 Bold" panose="00000800000000000000" pitchFamily="2" charset="-127"/>
                <a:ea typeface="KoPubWorld돋움체 Bold" panose="00000800000000000000" pitchFamily="2" charset="-127"/>
                <a:cs typeface="KoPubWorld돋움체 Bold" panose="00000800000000000000" pitchFamily="2" charset="-127"/>
              </a:endParaRPr>
            </a:p>
          </p:txBody>
        </p:sp>
      </p:grpSp>
      <p:sp>
        <p:nvSpPr>
          <p:cNvPr id="6" name="AutoShape 2">
            <a:extLst>
              <a:ext uri="{FF2B5EF4-FFF2-40B4-BE49-F238E27FC236}">
                <a16:creationId xmlns:a16="http://schemas.microsoft.com/office/drawing/2014/main" id="{02D49B38-5990-C0B2-D433-5198C09E3696}"/>
              </a:ext>
            </a:extLst>
          </p:cNvPr>
          <p:cNvSpPr>
            <a:spLocks noChangeAspect="1" noChangeArrowheads="1"/>
          </p:cNvSpPr>
          <p:nvPr/>
        </p:nvSpPr>
        <p:spPr bwMode="auto">
          <a:xfrm>
            <a:off x="14987588" y="2125186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9" name="그림 8" descr="The diagram compares subscriber counts, video counts, average views, and days for two YouTube channels: MrBeast with 497 million subscribers, 973 videos, and 128 million average views over 5213 days, and Khaby with 161.9 million subscribers, 1084 videos, and 17.8 million average views over 2270 days.&#10;&#10;AI 생성 콘텐츠는 정확하지 않을 수 있습니다.">
            <a:extLst>
              <a:ext uri="{FF2B5EF4-FFF2-40B4-BE49-F238E27FC236}">
                <a16:creationId xmlns:a16="http://schemas.microsoft.com/office/drawing/2014/main" id="{32246FA0-30BE-5302-436E-66C050F0D4CB}"/>
              </a:ext>
            </a:extLst>
          </p:cNvPr>
          <p:cNvPicPr>
            <a:picLocks noChangeAspect="1"/>
          </p:cNvPicPr>
          <p:nvPr/>
        </p:nvPicPr>
        <p:blipFill>
          <a:blip r:embed="rId2"/>
          <a:srcRect l="4398" r="5591" b="18155"/>
          <a:stretch>
            <a:fillRect/>
          </a:stretch>
        </p:blipFill>
        <p:spPr>
          <a:xfrm>
            <a:off x="426720" y="21841673"/>
            <a:ext cx="14010328" cy="3096459"/>
          </a:xfrm>
          <a:prstGeom prst="rect">
            <a:avLst/>
          </a:prstGeom>
          <a:ln>
            <a:solidFill>
              <a:schemeClr val="tx1">
                <a:lumMod val="65000"/>
                <a:lumOff val="35000"/>
              </a:schemeClr>
            </a:solidFill>
          </a:ln>
        </p:spPr>
      </p:pic>
      <p:pic>
        <p:nvPicPr>
          <p:cNvPr id="17" name="그림 16" descr="The image displays scatter plots comparing the number of views and days since first upload for two content creators, MrBeast and Khaby, with different data points and trends.&#10;&#10;AI 생성 콘텐츠는 정확하지 않을 수 있습니다.">
            <a:extLst>
              <a:ext uri="{FF2B5EF4-FFF2-40B4-BE49-F238E27FC236}">
                <a16:creationId xmlns:a16="http://schemas.microsoft.com/office/drawing/2014/main" id="{7BC0E5A3-2889-CD7A-976C-90956253C11A}"/>
              </a:ext>
            </a:extLst>
          </p:cNvPr>
          <p:cNvPicPr>
            <a:picLocks noChangeAspect="1"/>
          </p:cNvPicPr>
          <p:nvPr/>
        </p:nvPicPr>
        <p:blipFill>
          <a:blip r:embed="rId3"/>
          <a:srcRect t="49003" b="-1"/>
          <a:stretch>
            <a:fillRect/>
          </a:stretch>
        </p:blipFill>
        <p:spPr>
          <a:xfrm>
            <a:off x="404494" y="27656965"/>
            <a:ext cx="14374445" cy="5489917"/>
          </a:xfrm>
          <a:prstGeom prst="rect">
            <a:avLst/>
          </a:prstGeom>
          <a:ln>
            <a:solidFill>
              <a:schemeClr val="tx1">
                <a:lumMod val="65000"/>
                <a:lumOff val="35000"/>
              </a:schemeClr>
            </a:solidFill>
          </a:ln>
        </p:spPr>
      </p:pic>
      <p:sp>
        <p:nvSpPr>
          <p:cNvPr id="38" name="TextBox 37">
            <a:extLst>
              <a:ext uri="{FF2B5EF4-FFF2-40B4-BE49-F238E27FC236}">
                <a16:creationId xmlns:a16="http://schemas.microsoft.com/office/drawing/2014/main" id="{35C5553D-46F9-2E59-C9ED-E92BFD771E4E}"/>
              </a:ext>
            </a:extLst>
          </p:cNvPr>
          <p:cNvSpPr txBox="1"/>
          <p:nvPr/>
        </p:nvSpPr>
        <p:spPr>
          <a:xfrm>
            <a:off x="426720" y="7660900"/>
            <a:ext cx="15052030" cy="2831546"/>
          </a:xfrm>
          <a:prstGeom prst="rect">
            <a:avLst/>
          </a:prstGeom>
          <a:noFill/>
        </p:spPr>
        <p:txBody>
          <a:bodyPr wrap="square" lIns="365757" tIns="182881" rIns="365757" bIns="182881" rtlCol="0">
            <a:spAutoFit/>
          </a:bodyPr>
          <a:lstStyle/>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YouTube and TikTok differ in recommendation and viewing mechanisms.</a:t>
            </a:r>
          </a:p>
          <a:p>
            <a:pPr marL="457200" indent="-457200">
              <a:buFont typeface="Arial" panose="020B0604020202020204" pitchFamily="34" charset="0"/>
              <a:buChar char="•"/>
            </a:pPr>
            <a:r>
              <a:rPr lang="en-US" altLang="ko-KR" sz="3200" b="1" u="sng"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YouTube</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users </a:t>
            </a:r>
            <a:r>
              <a:rPr lang="en-US" altLang="ko-KR" sz="3200" b="1" u="sng"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actively</a:t>
            </a:r>
            <a:r>
              <a:rPr lang="en-US" altLang="ko-KR" sz="3200" u="sng"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a:t>
            </a:r>
            <a:r>
              <a:rPr lang="en-US" altLang="ko-KR" sz="3200" b="1" u="sng"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choose</a:t>
            </a:r>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videos</a:t>
            </a:r>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using titles and thumbnails.</a:t>
            </a:r>
          </a:p>
          <a:p>
            <a:pPr marL="457200" indent="-457200">
              <a:buFont typeface="Arial" panose="020B0604020202020204" pitchFamily="34" charset="0"/>
              <a:buChar char="•"/>
            </a:pPr>
            <a:r>
              <a:rPr lang="en-US" altLang="ko-KR" sz="3200" b="1" u="sng"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TikTok</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users mainly consume videos through </a:t>
            </a:r>
            <a:r>
              <a:rPr lang="en-US" altLang="ko-KR" sz="3200" b="1" u="sng"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algorithmic feeds</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This study compares MrBeast and </a:t>
            </a:r>
            <a:r>
              <a:rPr lang="en-US" altLang="ko-KR" sz="3200" dirty="0" err="1">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Khaby</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Lame to identify platform-specific factors affecting views.</a:t>
            </a:r>
            <a:endParaRPr lang="ko-KR" altLang="en-US"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endParaRPr>
          </a:p>
        </p:txBody>
      </p:sp>
      <p:pic>
        <p:nvPicPr>
          <p:cNvPr id="16" name="그림 15" descr="you,&#10;&#10;AI 생성 콘텐츠는 정확하지 않을 수 있습니다.">
            <a:extLst>
              <a:ext uri="{FF2B5EF4-FFF2-40B4-BE49-F238E27FC236}">
                <a16:creationId xmlns:a16="http://schemas.microsoft.com/office/drawing/2014/main" id="{A3F613A9-2DBF-D399-AC16-53F92ECEDA71}"/>
              </a:ext>
            </a:extLst>
          </p:cNvPr>
          <p:cNvPicPr>
            <a:picLocks noChangeAspect="1"/>
          </p:cNvPicPr>
          <p:nvPr/>
        </p:nvPicPr>
        <p:blipFill>
          <a:blip r:embed="rId4"/>
          <a:stretch>
            <a:fillRect/>
          </a:stretch>
        </p:blipFill>
        <p:spPr>
          <a:xfrm>
            <a:off x="60282" y="35967629"/>
            <a:ext cx="15007697" cy="5283487"/>
          </a:xfrm>
          <a:prstGeom prst="rect">
            <a:avLst/>
          </a:prstGeom>
          <a:ln>
            <a:solidFill>
              <a:schemeClr val="tx1">
                <a:lumMod val="65000"/>
                <a:lumOff val="35000"/>
              </a:schemeClr>
            </a:solidFill>
          </a:ln>
        </p:spPr>
      </p:pic>
      <p:pic>
        <p:nvPicPr>
          <p:cNvPr id="20" name="그림 19" descr="Khaby,&#10;&#10;AI 생성 콘텐츠는 정확하지 않을 수 있습니다.">
            <a:extLst>
              <a:ext uri="{FF2B5EF4-FFF2-40B4-BE49-F238E27FC236}">
                <a16:creationId xmlns:a16="http://schemas.microsoft.com/office/drawing/2014/main" id="{44F4F952-416F-FBE6-9818-11D4501829FB}"/>
              </a:ext>
            </a:extLst>
          </p:cNvPr>
          <p:cNvPicPr>
            <a:picLocks noChangeAspect="1"/>
          </p:cNvPicPr>
          <p:nvPr/>
        </p:nvPicPr>
        <p:blipFill>
          <a:blip r:embed="rId5"/>
          <a:stretch>
            <a:fillRect/>
          </a:stretch>
        </p:blipFill>
        <p:spPr>
          <a:xfrm>
            <a:off x="15428019" y="17386751"/>
            <a:ext cx="14192250" cy="4667250"/>
          </a:xfrm>
          <a:prstGeom prst="rect">
            <a:avLst/>
          </a:prstGeom>
          <a:ln>
            <a:solidFill>
              <a:schemeClr val="tx1">
                <a:lumMod val="65000"/>
                <a:lumOff val="35000"/>
              </a:schemeClr>
            </a:solidFill>
          </a:ln>
        </p:spPr>
      </p:pic>
      <p:pic>
        <p:nvPicPr>
          <p:cNvPr id="40" name="그림 39" descr="The image displays scatter plots comparing the polarity and view counts of two entities, MrBeast and Khaby, with data points plotted on a hexbin grid.&#10;&#10;AI 생성 콘텐츠는 정확하지 않을 수 있습니다.">
            <a:extLst>
              <a:ext uri="{FF2B5EF4-FFF2-40B4-BE49-F238E27FC236}">
                <a16:creationId xmlns:a16="http://schemas.microsoft.com/office/drawing/2014/main" id="{4458755C-DF65-E630-636B-0998E5B616F9}"/>
              </a:ext>
            </a:extLst>
          </p:cNvPr>
          <p:cNvPicPr>
            <a:picLocks noChangeAspect="1"/>
          </p:cNvPicPr>
          <p:nvPr/>
        </p:nvPicPr>
        <p:blipFill>
          <a:blip r:embed="rId6"/>
          <a:srcRect t="49516"/>
          <a:stretch>
            <a:fillRect/>
          </a:stretch>
        </p:blipFill>
        <p:spPr>
          <a:xfrm>
            <a:off x="15428019" y="21956605"/>
            <a:ext cx="14345609" cy="5420226"/>
          </a:xfrm>
          <a:prstGeom prst="rect">
            <a:avLst/>
          </a:prstGeom>
          <a:ln>
            <a:solidFill>
              <a:schemeClr val="tx1">
                <a:lumMod val="65000"/>
                <a:lumOff val="35000"/>
              </a:schemeClr>
            </a:solidFill>
          </a:ln>
        </p:spPr>
      </p:pic>
      <p:pic>
        <p:nvPicPr>
          <p:cNvPr id="44" name="그림 43" descr="The diagram shows a comparison of video durations and corresponding view counts for different video types, including regular and shorts, plotted on a scatter plot.&#10;&#10;AI 생성 콘텐츠는 정확하지 않을 수 있습니다.">
            <a:extLst>
              <a:ext uri="{FF2B5EF4-FFF2-40B4-BE49-F238E27FC236}">
                <a16:creationId xmlns:a16="http://schemas.microsoft.com/office/drawing/2014/main" id="{D110CAC7-3142-B21C-5AB1-31FE7BEE85E0}"/>
              </a:ext>
            </a:extLst>
          </p:cNvPr>
          <p:cNvPicPr>
            <a:picLocks noChangeAspect="1"/>
          </p:cNvPicPr>
          <p:nvPr/>
        </p:nvPicPr>
        <p:blipFill>
          <a:blip r:embed="rId7"/>
          <a:stretch>
            <a:fillRect/>
          </a:stretch>
        </p:blipFill>
        <p:spPr>
          <a:xfrm>
            <a:off x="16357295" y="29942350"/>
            <a:ext cx="10808028" cy="6151544"/>
          </a:xfrm>
          <a:prstGeom prst="rect">
            <a:avLst/>
          </a:prstGeom>
          <a:ln>
            <a:solidFill>
              <a:schemeClr val="tx1">
                <a:lumMod val="65000"/>
                <a:lumOff val="35000"/>
              </a:schemeClr>
            </a:solidFill>
          </a:ln>
        </p:spPr>
      </p:pic>
      <p:cxnSp>
        <p:nvCxnSpPr>
          <p:cNvPr id="47" name="직선 연결선 46">
            <a:extLst>
              <a:ext uri="{FF2B5EF4-FFF2-40B4-BE49-F238E27FC236}">
                <a16:creationId xmlns:a16="http://schemas.microsoft.com/office/drawing/2014/main" id="{02B35378-C6F6-8845-3182-D01B81235190}"/>
              </a:ext>
            </a:extLst>
          </p:cNvPr>
          <p:cNvCxnSpPr>
            <a:cxnSpLocks/>
          </p:cNvCxnSpPr>
          <p:nvPr/>
        </p:nvCxnSpPr>
        <p:spPr>
          <a:xfrm>
            <a:off x="15139987" y="6242549"/>
            <a:ext cx="0" cy="35179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449AAD10-AFC4-3753-F68D-6E22823E5EF3}"/>
              </a:ext>
            </a:extLst>
          </p:cNvPr>
          <p:cNvSpPr txBox="1"/>
          <p:nvPr/>
        </p:nvSpPr>
        <p:spPr>
          <a:xfrm>
            <a:off x="426720" y="11844853"/>
            <a:ext cx="15052030" cy="6278644"/>
          </a:xfrm>
          <a:prstGeom prst="rect">
            <a:avLst/>
          </a:prstGeom>
          <a:noFill/>
        </p:spPr>
        <p:txBody>
          <a:bodyPr wrap="square" lIns="365757" tIns="182881" rIns="365757" bIns="182881" rtlCol="0">
            <a:spAutoFit/>
          </a:bodyPr>
          <a:lstStyle/>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Research Question</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How does platform structure influence view-driving factors?</a:t>
            </a:r>
          </a:p>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Data Collection</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MrBeast (YouTube)</a:t>
            </a:r>
          </a:p>
          <a:p>
            <a:pPr marL="457200" indent="-457200">
              <a:buFont typeface="Arial" panose="020B0604020202020204" pitchFamily="34" charset="0"/>
              <a:buChar char="•"/>
            </a:pPr>
            <a:r>
              <a:rPr lang="en-US" altLang="ko-KR" sz="3200" dirty="0" err="1">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Khaby</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Lame (TikTok)</a:t>
            </a:r>
          </a:p>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Analysis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Upload frequency</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Title keywords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Sentiment of keywords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Video format(short-form vs long-form)</a:t>
            </a:r>
          </a:p>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Interpretation</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Compare view-driving factors across platforms</a:t>
            </a:r>
          </a:p>
        </p:txBody>
      </p:sp>
      <p:grpSp>
        <p:nvGrpSpPr>
          <p:cNvPr id="41" name="그룹 40">
            <a:extLst>
              <a:ext uri="{FF2B5EF4-FFF2-40B4-BE49-F238E27FC236}">
                <a16:creationId xmlns:a16="http://schemas.microsoft.com/office/drawing/2014/main" id="{BF9419BD-F439-96CB-C6E1-A690020513BB}"/>
              </a:ext>
            </a:extLst>
          </p:cNvPr>
          <p:cNvGrpSpPr/>
          <p:nvPr/>
        </p:nvGrpSpPr>
        <p:grpSpPr>
          <a:xfrm>
            <a:off x="15428019" y="8092242"/>
            <a:ext cx="14373673" cy="6657755"/>
            <a:chOff x="15662766" y="8392341"/>
            <a:chExt cx="14373673" cy="6657755"/>
          </a:xfrm>
        </p:grpSpPr>
        <p:pic>
          <p:nvPicPr>
            <p:cNvPr id="36" name="그림 35" descr="persona.&#10;&#10;AI 생성 콘텐츠는 정확하지 않을 수 있습니다.">
              <a:extLst>
                <a:ext uri="{FF2B5EF4-FFF2-40B4-BE49-F238E27FC236}">
                  <a16:creationId xmlns:a16="http://schemas.microsoft.com/office/drawing/2014/main" id="{4DA9398E-35ED-27FF-01B5-CE6E75B73FCF}"/>
                </a:ext>
              </a:extLst>
            </p:cNvPr>
            <p:cNvPicPr>
              <a:picLocks noChangeAspect="1"/>
            </p:cNvPicPr>
            <p:nvPr/>
          </p:nvPicPr>
          <p:blipFill>
            <a:blip r:embed="rId8"/>
            <a:stretch>
              <a:fillRect/>
            </a:stretch>
          </p:blipFill>
          <p:spPr>
            <a:xfrm>
              <a:off x="15662766" y="10213807"/>
              <a:ext cx="9377681" cy="4836289"/>
            </a:xfrm>
            <a:prstGeom prst="rect">
              <a:avLst/>
            </a:prstGeom>
            <a:ln>
              <a:solidFill>
                <a:schemeClr val="tx1">
                  <a:lumMod val="65000"/>
                  <a:lumOff val="35000"/>
                </a:schemeClr>
              </a:solidFill>
            </a:ln>
          </p:spPr>
        </p:pic>
        <p:pic>
          <p:nvPicPr>
            <p:cNvPr id="31" name="그림 30" descr="The image contains a colorful word cloud featuring popular gaming terms, YouTube references, and various keywords related to online content and activities.&#10;&#10;AI 생성 콘텐츠는 정확하지 않을 수 있습니다.">
              <a:extLst>
                <a:ext uri="{FF2B5EF4-FFF2-40B4-BE49-F238E27FC236}">
                  <a16:creationId xmlns:a16="http://schemas.microsoft.com/office/drawing/2014/main" id="{D71E8757-767F-6524-89A2-E5B8E0EF0382}"/>
                </a:ext>
              </a:extLst>
            </p:cNvPr>
            <p:cNvPicPr>
              <a:picLocks noChangeAspect="1"/>
            </p:cNvPicPr>
            <p:nvPr/>
          </p:nvPicPr>
          <p:blipFill>
            <a:blip r:embed="rId9"/>
            <a:stretch>
              <a:fillRect/>
            </a:stretch>
          </p:blipFill>
          <p:spPr>
            <a:xfrm>
              <a:off x="20658758" y="8392341"/>
              <a:ext cx="9377681" cy="4836288"/>
            </a:xfrm>
            <a:prstGeom prst="rect">
              <a:avLst/>
            </a:prstGeom>
            <a:ln>
              <a:solidFill>
                <a:schemeClr val="tx1">
                  <a:lumMod val="65000"/>
                  <a:lumOff val="35000"/>
                </a:schemeClr>
              </a:solidFill>
            </a:ln>
          </p:spPr>
        </p:pic>
      </p:grpSp>
      <p:sp>
        <p:nvSpPr>
          <p:cNvPr id="53" name="TextBox 52">
            <a:extLst>
              <a:ext uri="{FF2B5EF4-FFF2-40B4-BE49-F238E27FC236}">
                <a16:creationId xmlns:a16="http://schemas.microsoft.com/office/drawing/2014/main" id="{E245C204-0EE1-99D0-A461-5B4368697958}"/>
              </a:ext>
            </a:extLst>
          </p:cNvPr>
          <p:cNvSpPr txBox="1"/>
          <p:nvPr/>
        </p:nvSpPr>
        <p:spPr>
          <a:xfrm>
            <a:off x="426720" y="19475904"/>
            <a:ext cx="14792893" cy="2339104"/>
          </a:xfrm>
          <a:prstGeom prst="rect">
            <a:avLst/>
          </a:prstGeom>
          <a:noFill/>
        </p:spPr>
        <p:txBody>
          <a:bodyPr wrap="square" lIns="365757" tIns="182881" rIns="365757" bIns="182881" rtlCol="0">
            <a:spAutoFit/>
          </a:bodyPr>
          <a:lstStyle/>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Channel Comparison</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MrBeast and </a:t>
            </a:r>
            <a:r>
              <a:rPr lang="en-US" altLang="ko-KR" sz="3200" dirty="0" err="1">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Khaby</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Lame are the largest creators on their platforms.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Absolute views are platform-dependent.</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Focus: factors affecting views rather than view counts themselves.</a:t>
            </a:r>
          </a:p>
        </p:txBody>
      </p:sp>
      <p:sp>
        <p:nvSpPr>
          <p:cNvPr id="57" name="TextBox 56">
            <a:extLst>
              <a:ext uri="{FF2B5EF4-FFF2-40B4-BE49-F238E27FC236}">
                <a16:creationId xmlns:a16="http://schemas.microsoft.com/office/drawing/2014/main" id="{E2180106-BE62-5AB8-DF0F-899D5FF6EEFF}"/>
              </a:ext>
            </a:extLst>
          </p:cNvPr>
          <p:cNvSpPr txBox="1"/>
          <p:nvPr/>
        </p:nvSpPr>
        <p:spPr>
          <a:xfrm>
            <a:off x="15428019" y="37266479"/>
            <a:ext cx="14792893" cy="4308874"/>
          </a:xfrm>
          <a:prstGeom prst="rect">
            <a:avLst/>
          </a:prstGeom>
          <a:noFill/>
        </p:spPr>
        <p:txBody>
          <a:bodyPr wrap="square" lIns="365757" tIns="182881" rIns="365757" bIns="182881" rtlCol="0">
            <a:spAutoFit/>
          </a:bodyPr>
          <a:lstStyle/>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Implications</a:t>
            </a:r>
            <a:endPar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endParaRP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Platform structure affects content strategy.</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YouTube rewards </a:t>
            </a:r>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title optimization</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and </a:t>
            </a:r>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consistent uploads</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TikTok relies more on </a:t>
            </a:r>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algorithm-driven</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discovery.</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Creators should adapt strategies to each platform.</a:t>
            </a:r>
          </a:p>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Limitation</a:t>
            </a:r>
            <a:endPar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endParaRP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Only one representative channel was analyzed per platform.</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Results may not generalize to all creators.</a:t>
            </a:r>
          </a:p>
        </p:txBody>
      </p:sp>
      <p:sp>
        <p:nvSpPr>
          <p:cNvPr id="59" name="TextBox 58">
            <a:extLst>
              <a:ext uri="{FF2B5EF4-FFF2-40B4-BE49-F238E27FC236}">
                <a16:creationId xmlns:a16="http://schemas.microsoft.com/office/drawing/2014/main" id="{27A7A25D-6907-CEF8-5AB5-7B34BBC1B985}"/>
              </a:ext>
            </a:extLst>
          </p:cNvPr>
          <p:cNvSpPr txBox="1"/>
          <p:nvPr/>
        </p:nvSpPr>
        <p:spPr>
          <a:xfrm>
            <a:off x="267469" y="24925942"/>
            <a:ext cx="14792893" cy="2831546"/>
          </a:xfrm>
          <a:prstGeom prst="rect">
            <a:avLst/>
          </a:prstGeom>
          <a:noFill/>
        </p:spPr>
        <p:txBody>
          <a:bodyPr wrap="square" lIns="365757" tIns="182881" rIns="365757" bIns="182881" rtlCol="0">
            <a:spAutoFit/>
          </a:bodyPr>
          <a:lstStyle/>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Analysis 1: Upload Frequency</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YouTube: Higher upload frequency → higher views.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Strong channel-growth effect from subscriber-based exposure.</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TikTok: Weaker relationship between uploads and views.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Individual video performance matters more than channel size.</a:t>
            </a:r>
          </a:p>
        </p:txBody>
      </p:sp>
      <p:sp>
        <p:nvSpPr>
          <p:cNvPr id="8" name="TextBox 7">
            <a:extLst>
              <a:ext uri="{FF2B5EF4-FFF2-40B4-BE49-F238E27FC236}">
                <a16:creationId xmlns:a16="http://schemas.microsoft.com/office/drawing/2014/main" id="{5B1ABBE8-A13E-0302-8679-B0048A7207BD}"/>
              </a:ext>
            </a:extLst>
          </p:cNvPr>
          <p:cNvSpPr txBox="1"/>
          <p:nvPr/>
        </p:nvSpPr>
        <p:spPr>
          <a:xfrm>
            <a:off x="178292" y="33136083"/>
            <a:ext cx="14792893" cy="2831546"/>
          </a:xfrm>
          <a:prstGeom prst="rect">
            <a:avLst/>
          </a:prstGeom>
          <a:noFill/>
        </p:spPr>
        <p:txBody>
          <a:bodyPr wrap="square" lIns="365757" tIns="182881" rIns="365757" bIns="182881" rtlCol="0">
            <a:spAutoFit/>
          </a:bodyPr>
          <a:lstStyle/>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Analysis 2: Title Keywords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MrBeast: reward, challenge, scale-oriented keywords.</a:t>
            </a:r>
          </a:p>
          <a:p>
            <a:pPr marL="457200" indent="-457200">
              <a:buFont typeface="Arial" panose="020B0604020202020204" pitchFamily="34" charset="0"/>
              <a:buChar char="•"/>
            </a:pPr>
            <a:r>
              <a:rPr lang="en-US" altLang="ko-KR" sz="3200" dirty="0" err="1">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Khaby</a:t>
            </a: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 Lame: hashtags or comedy-related keywords.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YouTube titles communicate content value.</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TikTok titles play a smaller role in attracting viewers.</a:t>
            </a:r>
          </a:p>
        </p:txBody>
      </p:sp>
      <p:sp>
        <p:nvSpPr>
          <p:cNvPr id="14" name="TextBox 13">
            <a:extLst>
              <a:ext uri="{FF2B5EF4-FFF2-40B4-BE49-F238E27FC236}">
                <a16:creationId xmlns:a16="http://schemas.microsoft.com/office/drawing/2014/main" id="{2D70C57A-E7CD-287A-CDDE-745FC567C036}"/>
              </a:ext>
            </a:extLst>
          </p:cNvPr>
          <p:cNvSpPr txBox="1"/>
          <p:nvPr/>
        </p:nvSpPr>
        <p:spPr>
          <a:xfrm>
            <a:off x="15428019" y="14652601"/>
            <a:ext cx="14792893" cy="2831546"/>
          </a:xfrm>
          <a:prstGeom prst="rect">
            <a:avLst/>
          </a:prstGeom>
          <a:noFill/>
        </p:spPr>
        <p:txBody>
          <a:bodyPr wrap="square" lIns="365757" tIns="182881" rIns="365757" bIns="182881" rtlCol="0">
            <a:spAutoFit/>
          </a:bodyPr>
          <a:lstStyle/>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Analysis 3: Title Sentiment</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Positive titles were more common than negative titles on both platforms.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YouTube: positive titles showed slightly higher views.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TikTok: sentiment had little effect on views.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Consistent with the keyword-analysis results.</a:t>
            </a:r>
          </a:p>
        </p:txBody>
      </p:sp>
      <p:sp>
        <p:nvSpPr>
          <p:cNvPr id="15" name="TextBox 14">
            <a:extLst>
              <a:ext uri="{FF2B5EF4-FFF2-40B4-BE49-F238E27FC236}">
                <a16:creationId xmlns:a16="http://schemas.microsoft.com/office/drawing/2014/main" id="{BF4BC3EB-4E62-5FE0-71E9-18FFC4556F5D}"/>
              </a:ext>
            </a:extLst>
          </p:cNvPr>
          <p:cNvSpPr txBox="1"/>
          <p:nvPr/>
        </p:nvSpPr>
        <p:spPr>
          <a:xfrm>
            <a:off x="15428019" y="27279435"/>
            <a:ext cx="14792893" cy="2831546"/>
          </a:xfrm>
          <a:prstGeom prst="rect">
            <a:avLst/>
          </a:prstGeom>
          <a:noFill/>
        </p:spPr>
        <p:txBody>
          <a:bodyPr wrap="square" lIns="365757" tIns="182881" rIns="365757" bIns="182881" rtlCol="0">
            <a:spAutoFit/>
          </a:bodyPr>
          <a:lstStyle/>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Analysis 4: Video Format</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Shorts generally received more views than regular videos.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Video length showed little correlation with views within Shorts.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Format mattered more than duration.</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Algorithmic recommendation likely drives performance.</a:t>
            </a:r>
          </a:p>
        </p:txBody>
      </p:sp>
      <p:sp>
        <p:nvSpPr>
          <p:cNvPr id="32" name="TextBox 31">
            <a:extLst>
              <a:ext uri="{FF2B5EF4-FFF2-40B4-BE49-F238E27FC236}">
                <a16:creationId xmlns:a16="http://schemas.microsoft.com/office/drawing/2014/main" id="{033D000B-8EDA-9D50-A712-889667D95ACA}"/>
              </a:ext>
            </a:extLst>
          </p:cNvPr>
          <p:cNvSpPr txBox="1"/>
          <p:nvPr/>
        </p:nvSpPr>
        <p:spPr>
          <a:xfrm>
            <a:off x="15428019" y="5850534"/>
            <a:ext cx="14792893" cy="2339104"/>
          </a:xfrm>
          <a:prstGeom prst="rect">
            <a:avLst/>
          </a:prstGeom>
          <a:noFill/>
        </p:spPr>
        <p:txBody>
          <a:bodyPr wrap="square" lIns="365757" tIns="182881" rIns="365757" bIns="182881" rtlCol="0">
            <a:spAutoFit/>
          </a:bodyPr>
          <a:lstStyle/>
          <a:p>
            <a:r>
              <a:rPr lang="en-US" altLang="ko-KR" sz="3200" b="1"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Analysis 2 - Word Cloud</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YouTube: repeated dominant keywords → clearer title strategy.</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TikTok: more diverse vocabulary → weaker dependence on titles.</a:t>
            </a:r>
          </a:p>
          <a:p>
            <a:pPr marL="457200" indent="-457200">
              <a:buFont typeface="Arial" panose="020B0604020202020204" pitchFamily="34" charset="0"/>
              <a:buChar char="•"/>
            </a:pPr>
            <a:r>
              <a:rPr lang="en-US" altLang="ko-KR" sz="3200" dirty="0">
                <a:solidFill>
                  <a:schemeClr val="tx1">
                    <a:lumMod val="75000"/>
                    <a:lumOff val="25000"/>
                  </a:schemeClr>
                </a:solidFill>
                <a:latin typeface="KoPubWorld돋움체 Medium" panose="00000600000000000000" pitchFamily="2" charset="-127"/>
                <a:ea typeface="KoPubWorld돋움체 Medium" panose="00000600000000000000" pitchFamily="2" charset="-127"/>
                <a:cs typeface="KoPubWorld돋움체 Medium" panose="00000600000000000000" pitchFamily="2" charset="-127"/>
              </a:rPr>
              <a:t>Suggests stronger influence of recommendation algorithms on TikTok.</a:t>
            </a:r>
          </a:p>
        </p:txBody>
      </p:sp>
      <p:cxnSp>
        <p:nvCxnSpPr>
          <p:cNvPr id="18" name="직선 연결선 17">
            <a:extLst>
              <a:ext uri="{FF2B5EF4-FFF2-40B4-BE49-F238E27FC236}">
                <a16:creationId xmlns:a16="http://schemas.microsoft.com/office/drawing/2014/main" id="{D6ECDB42-0024-2AB7-B61E-E427CC4D1523}"/>
              </a:ext>
            </a:extLst>
          </p:cNvPr>
          <p:cNvCxnSpPr>
            <a:cxnSpLocks/>
          </p:cNvCxnSpPr>
          <p:nvPr/>
        </p:nvCxnSpPr>
        <p:spPr>
          <a:xfrm>
            <a:off x="250900" y="10387038"/>
            <a:ext cx="14511470" cy="0"/>
          </a:xfrm>
          <a:prstGeom prst="line">
            <a:avLst/>
          </a:prstGeom>
          <a:ln>
            <a:solidFill>
              <a:schemeClr val="bg1">
                <a:lumMod val="7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48" name="직선 연결선 47">
            <a:extLst>
              <a:ext uri="{FF2B5EF4-FFF2-40B4-BE49-F238E27FC236}">
                <a16:creationId xmlns:a16="http://schemas.microsoft.com/office/drawing/2014/main" id="{CCEC5DF4-5A84-4FC6-7C0F-631C53283107}"/>
              </a:ext>
            </a:extLst>
          </p:cNvPr>
          <p:cNvCxnSpPr>
            <a:cxnSpLocks/>
          </p:cNvCxnSpPr>
          <p:nvPr/>
        </p:nvCxnSpPr>
        <p:spPr>
          <a:xfrm>
            <a:off x="250900" y="18019886"/>
            <a:ext cx="14511470" cy="0"/>
          </a:xfrm>
          <a:prstGeom prst="line">
            <a:avLst/>
          </a:prstGeom>
          <a:ln>
            <a:solidFill>
              <a:schemeClr val="bg1">
                <a:lumMod val="7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49" name="직선 연결선 48">
            <a:extLst>
              <a:ext uri="{FF2B5EF4-FFF2-40B4-BE49-F238E27FC236}">
                <a16:creationId xmlns:a16="http://schemas.microsoft.com/office/drawing/2014/main" id="{3B888C3C-5CC9-36C6-C581-BD65250459BF}"/>
              </a:ext>
            </a:extLst>
          </p:cNvPr>
          <p:cNvCxnSpPr>
            <a:cxnSpLocks/>
          </p:cNvCxnSpPr>
          <p:nvPr/>
        </p:nvCxnSpPr>
        <p:spPr>
          <a:xfrm>
            <a:off x="250900" y="25056792"/>
            <a:ext cx="14511470" cy="0"/>
          </a:xfrm>
          <a:prstGeom prst="line">
            <a:avLst/>
          </a:prstGeom>
          <a:ln>
            <a:solidFill>
              <a:schemeClr val="bg1">
                <a:lumMod val="7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50" name="직선 연결선 49">
            <a:extLst>
              <a:ext uri="{FF2B5EF4-FFF2-40B4-BE49-F238E27FC236}">
                <a16:creationId xmlns:a16="http://schemas.microsoft.com/office/drawing/2014/main" id="{076EEF36-2E68-457B-DB50-3EFF9611DFE8}"/>
              </a:ext>
            </a:extLst>
          </p:cNvPr>
          <p:cNvCxnSpPr>
            <a:cxnSpLocks/>
          </p:cNvCxnSpPr>
          <p:nvPr/>
        </p:nvCxnSpPr>
        <p:spPr>
          <a:xfrm>
            <a:off x="250900" y="33285582"/>
            <a:ext cx="14511470" cy="0"/>
          </a:xfrm>
          <a:prstGeom prst="line">
            <a:avLst/>
          </a:prstGeom>
          <a:ln>
            <a:solidFill>
              <a:schemeClr val="bg1">
                <a:lumMod val="7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52" name="직선 연결선 51">
            <a:extLst>
              <a:ext uri="{FF2B5EF4-FFF2-40B4-BE49-F238E27FC236}">
                <a16:creationId xmlns:a16="http://schemas.microsoft.com/office/drawing/2014/main" id="{8037638D-7549-E816-4DAE-53A0267FD411}"/>
              </a:ext>
            </a:extLst>
          </p:cNvPr>
          <p:cNvCxnSpPr>
            <a:cxnSpLocks/>
          </p:cNvCxnSpPr>
          <p:nvPr/>
        </p:nvCxnSpPr>
        <p:spPr>
          <a:xfrm>
            <a:off x="15471021" y="14845922"/>
            <a:ext cx="14511470" cy="0"/>
          </a:xfrm>
          <a:prstGeom prst="line">
            <a:avLst/>
          </a:prstGeom>
          <a:ln>
            <a:solidFill>
              <a:schemeClr val="bg1">
                <a:lumMod val="7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54" name="직선 연결선 53">
            <a:extLst>
              <a:ext uri="{FF2B5EF4-FFF2-40B4-BE49-F238E27FC236}">
                <a16:creationId xmlns:a16="http://schemas.microsoft.com/office/drawing/2014/main" id="{336F3C26-44F1-AB81-FA8D-CA626A099C26}"/>
              </a:ext>
            </a:extLst>
          </p:cNvPr>
          <p:cNvCxnSpPr>
            <a:cxnSpLocks/>
          </p:cNvCxnSpPr>
          <p:nvPr/>
        </p:nvCxnSpPr>
        <p:spPr>
          <a:xfrm>
            <a:off x="15471021" y="27475067"/>
            <a:ext cx="14511470" cy="0"/>
          </a:xfrm>
          <a:prstGeom prst="line">
            <a:avLst/>
          </a:prstGeom>
          <a:ln>
            <a:solidFill>
              <a:schemeClr val="bg1">
                <a:lumMod val="7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55" name="직선 연결선 54">
            <a:extLst>
              <a:ext uri="{FF2B5EF4-FFF2-40B4-BE49-F238E27FC236}">
                <a16:creationId xmlns:a16="http://schemas.microsoft.com/office/drawing/2014/main" id="{6527F4DC-EB63-26EE-D4EA-43047DB914B5}"/>
              </a:ext>
            </a:extLst>
          </p:cNvPr>
          <p:cNvCxnSpPr>
            <a:cxnSpLocks/>
          </p:cNvCxnSpPr>
          <p:nvPr/>
        </p:nvCxnSpPr>
        <p:spPr>
          <a:xfrm>
            <a:off x="15471021" y="36171905"/>
            <a:ext cx="14511470" cy="0"/>
          </a:xfrm>
          <a:prstGeom prst="line">
            <a:avLst/>
          </a:prstGeom>
          <a:ln>
            <a:solidFill>
              <a:schemeClr val="bg1">
                <a:lumMod val="75000"/>
              </a:schemeClr>
            </a:solidFill>
            <a:prstDash val="lgDash"/>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mc:Choice>
    <mc:Fallback xmlns="" xmlns:c="http://schemas.openxmlformats.org/drawingml/2006/chart" xmlns:dgm="http://schemas.openxmlformats.org/drawingml/2006/diagram" xmlns:dsp="http://schemas.microsoft.com/office/drawing/2008/diagram">
      <p:transition/>
    </mc:Fallback>
  </mc:AlternateContent>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MS PGothic"/>
        <a:font script="Hang" typeface="맑은 고딕"/>
        <a:font script="Hans" typeface="SimSu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495</TotalTime>
  <Words>398</Words>
  <Application>Microsoft Office PowerPoint</Application>
  <PresentationFormat>사용자 지정</PresentationFormat>
  <Paragraphs>66</Paragraphs>
  <Slides>1</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vt:i4>
      </vt:variant>
    </vt:vector>
  </HeadingPairs>
  <TitlesOfParts>
    <vt:vector size="5" baseType="lpstr">
      <vt:lpstr>KoPubWorld돋움체 Bold</vt:lpstr>
      <vt:lpstr>KoPubWorld돋움체 Medium</vt:lpstr>
      <vt:lpstr>Arial</vt:lpstr>
      <vt:lpstr>Office 테마</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최정인</dc:creator>
  <cp:lastModifiedBy>이준수</cp:lastModifiedBy>
  <cp:revision>166</cp:revision>
  <dcterms:created xsi:type="dcterms:W3CDTF">2019-05-23T04:55:04Z</dcterms:created>
  <dcterms:modified xsi:type="dcterms:W3CDTF">2026-06-08T10:31:12Z</dcterms:modified>
  <cp:version/>
</cp:coreProperties>
</file>